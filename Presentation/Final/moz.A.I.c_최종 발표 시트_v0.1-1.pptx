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71" r:id="rId7"/>
    <p:sldId id="264" r:id="rId8"/>
    <p:sldId id="265" r:id="rId9"/>
    <p:sldId id="266" r:id="rId10"/>
    <p:sldId id="270" r:id="rId11"/>
    <p:sldId id="260" r:id="rId12"/>
    <p:sldId id="272" r:id="rId13"/>
    <p:sldId id="261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성혁 우" initials="성우" lastIdx="1" clrIdx="0">
    <p:extLst>
      <p:ext uri="{19B8F6BF-5375-455C-9EA6-DF929625EA0E}">
        <p15:presenceInfo xmlns:p15="http://schemas.microsoft.com/office/powerpoint/2012/main" userId="6bfecd9ae6247d7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FF"/>
    <a:srgbClr val="000000"/>
    <a:srgbClr val="FF0080"/>
    <a:srgbClr val="8000FF"/>
    <a:srgbClr val="FFFFFF"/>
    <a:srgbClr val="C000C0"/>
    <a:srgbClr val="004080"/>
    <a:srgbClr val="400080"/>
    <a:srgbClr val="202080"/>
    <a:srgbClr val="40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F009DA-1F53-46CC-96CA-033D24F33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000" y="2529000"/>
            <a:ext cx="11520000" cy="1800000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3D3638-DFBA-4D12-A7E0-1C24BD177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6000" y="4622800"/>
            <a:ext cx="9000000" cy="720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1AF31D-E393-443D-8CFC-EB434120C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F1836DF-CC63-4F54-A329-B71AFD69A70B}" type="datetimeFigureOut">
              <a:rPr lang="ko-KR" altLang="en-US" smtClean="0"/>
              <a:pPr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3CAB13-895F-424E-90C5-3B4AEAB1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D27F39-AD97-4AF7-9991-4E1E9E2E1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3785469-5BE1-426E-8B20-126D0B7ED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33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E62EA-2E73-4E31-B51B-716C227D4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7A8715-7C23-4E02-B3CE-AA14CA8A6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11BF52-940E-4BE5-AD78-297D3F2E8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C03708-2C8D-4E9D-830D-D252AF693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781725-5E8B-4DDB-9E68-00A455943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690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B8D9E-06B0-46EC-AC35-A6345CA9D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2529000"/>
            <a:ext cx="11520000" cy="18000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ko-KR" altLang="en-US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A5815E-3B5C-42DC-9B28-599DFB014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6000" y="4625237"/>
            <a:ext cx="9000000" cy="720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ko-KR" altLang="en-US" sz="2000"/>
            </a:lvl1pPr>
          </a:lstStyle>
          <a:p>
            <a:pPr lvl="0" algn="ctr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A734EE-DCD0-4FDC-9FC2-42BE08AC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B71375-B8E0-43E3-8D8E-4263090C4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C5648D-FE7B-4A75-8CD1-4E18A73F0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428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F056DF-B84F-499D-BC69-E5F38AC85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EAF30-0CCF-4B7A-A132-AF09FCF29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999" y="1269000"/>
            <a:ext cx="5400000" cy="48600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576663-6379-46B6-ABBC-81A0B137E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55998" y="1268999"/>
            <a:ext cx="5400000" cy="48600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4A831C-067D-42EB-ADB0-7080A6188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273B2C-5825-41DF-8C8D-EC567883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39FDA9-CCBF-4F7A-A08E-D706DC19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5808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3861B2-2E8C-477E-B36C-B5E6A67D5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136526"/>
            <a:ext cx="11520000" cy="9000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ko-KR" altLang="en-US"/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876D03-917B-4A29-80B8-CF6204D49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998" y="1269207"/>
            <a:ext cx="5400000" cy="90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904C92-DADA-4BA6-89C6-124333C3F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5998" y="2169000"/>
            <a:ext cx="5400000" cy="39600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8FC20A-0E46-4B1D-82D9-1679DD57A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55998" y="1269000"/>
            <a:ext cx="5400000" cy="90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317688-22E3-4A2B-A7DC-A013814A89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55998" y="2169000"/>
            <a:ext cx="5400000" cy="39600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996E091-23CF-4C50-AA54-9A6B3896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42F017-4D7A-43A1-A859-BE2D8445F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6C1AF7-691D-4EAC-A647-E2812B3C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009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30A739-C60B-42DF-9A46-914318DE6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A6EC152-2D07-4701-8A37-94FE84CAA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3EA44B-C8DE-4A4C-8FA3-71468221A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28056D-F92A-4969-A18D-FEAA16FC9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625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6D5E99-635D-438A-A347-8D6BE33AA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2C57A8-FA43-4305-BB97-5EC1E118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6F7AA9-1ADC-4939-BCE9-B329CE251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62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7BF79-DD3B-410A-B954-936EB1490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7E0986-D287-4BCD-AC22-C483E1DF2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43395B-E051-4871-9C20-0E8990EC2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0E0073-88F7-44E1-8AFB-ED04B4CDA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10F9B5-FC8C-4F2C-9345-4AB44E056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21B93B-2F16-48DA-9CB8-1A65C30B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809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689269-6A81-4139-9D3A-47B28F82C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D34466E-1AFB-4D99-A4F3-9373C98828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AFBD54-47E2-45F8-BC73-F9B97370B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BA349C-889E-47AC-8E7E-91096BBDF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9FB8A9-2BC7-4AF4-A40F-5721D32F5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66D96A-92BF-4706-B8D3-1E7E258F3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248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1383B-0C8E-4783-9060-5DD5B3FB8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422335-CBD6-4C09-B8A1-8B71EE584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067D89-B938-41D3-8EB7-0D4F46AF3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ED8224-CD68-40F4-BBB3-AC04052C5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A21A5F-97D9-4F70-BCF9-B28ED24A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756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3978792-708B-46E9-9D12-477BFDBF00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103639-01DD-4DA8-9341-025EC52D8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0A4062-697E-4581-84E7-96879849E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F1AA99-52D9-45B9-A6F1-61C257AA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00698D-4998-4BB8-84C1-360C5C14B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132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bg1"/>
            </a:gs>
            <a:gs pos="99000">
              <a:srgbClr val="C8C0FF">
                <a:alpha val="50000"/>
              </a:srgbClr>
            </a:gs>
            <a:gs pos="90000">
              <a:srgbClr val="F3F0FF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6E0977-833E-4C4B-8134-37DF22B99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99" y="0"/>
            <a:ext cx="11520000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6724C5-28AB-439F-9144-E0700B38F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999" y="900000"/>
            <a:ext cx="11519999" cy="54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8D570E-3193-4AF9-A07B-FA8414918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6000" y="6420742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defRPr>
            </a:lvl1pPr>
          </a:lstStyle>
          <a:p>
            <a:fld id="{0F1836DF-CC63-4F54-A329-B71AFD69A70B}" type="datetimeFigureOut">
              <a:rPr lang="ko-KR" altLang="en-US" smtClean="0"/>
              <a:pPr/>
              <a:t>2026-04-28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34C3B1-1C18-4626-8D4F-C1E8F397E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56000" y="6420742"/>
            <a:ext cx="54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2D6CAA-7810-4399-8686-3A7AC5A5F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8600" y="6420742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defRPr>
            </a:lvl1pPr>
          </a:lstStyle>
          <a:p>
            <a:fld id="{D3785469-5BE1-426E-8B20-126D0B7ED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13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프리젠테이션 4 Regular" pitchFamily="2" charset="-127"/>
          <a:ea typeface="프리젠테이션 4 Regular" pitchFamily="2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1pPr>
      <a:lvl2pPr marL="36000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2pPr>
      <a:lvl3pPr marL="72000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3pPr>
      <a:lvl4pPr marL="108000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4pPr>
      <a:lvl5pPr marL="144000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26B18DF5-7FCD-44C5-9611-B61C8C604C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Autofit/>
          </a:bodyPr>
          <a:lstStyle/>
          <a:p>
            <a:r>
              <a:rPr lang="ko-KR" altLang="en-US" dirty="0" err="1"/>
              <a:t>모으미</a:t>
            </a:r>
            <a:r>
              <a:rPr lang="en-US" altLang="ko-KR" dirty="0"/>
              <a:t> #1</a:t>
            </a:r>
            <a:r>
              <a:rPr lang="ko-KR" altLang="en-US" dirty="0"/>
              <a:t>팀</a:t>
            </a:r>
            <a:endParaRPr lang="en-US" altLang="ko-KR" dirty="0"/>
          </a:p>
          <a:p>
            <a:r>
              <a:rPr lang="ko-KR" altLang="en-US" dirty="0" err="1"/>
              <a:t>김남해</a:t>
            </a:r>
            <a:r>
              <a:rPr lang="ko-KR" altLang="en-US" dirty="0"/>
              <a:t> </a:t>
            </a:r>
            <a:r>
              <a:rPr lang="en-US" altLang="ko-KR" dirty="0"/>
              <a:t># </a:t>
            </a:r>
            <a:r>
              <a:rPr lang="ko-KR" altLang="en-US" dirty="0" err="1"/>
              <a:t>송예찬</a:t>
            </a:r>
            <a:r>
              <a:rPr lang="ko-KR" altLang="en-US" dirty="0"/>
              <a:t> </a:t>
            </a:r>
            <a:r>
              <a:rPr lang="en-US" altLang="ko-KR" dirty="0"/>
              <a:t># </a:t>
            </a:r>
            <a:r>
              <a:rPr lang="ko-KR" altLang="en-US" dirty="0"/>
              <a:t>우성혁</a:t>
            </a:r>
            <a:r>
              <a:rPr lang="en-US" altLang="ko-KR" dirty="0"/>
              <a:t> # </a:t>
            </a:r>
            <a:r>
              <a:rPr lang="ko-KR" altLang="en-US" dirty="0"/>
              <a:t>윤대식</a:t>
            </a:r>
          </a:p>
        </p:txBody>
      </p:sp>
    </p:spTree>
    <p:extLst>
      <p:ext uri="{BB962C8B-B14F-4D97-AF65-F5344CB8AC3E}">
        <p14:creationId xmlns:p14="http://schemas.microsoft.com/office/powerpoint/2010/main" val="1251254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7A18D-EAF5-49F7-A9EB-3AE63E7DD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45A002-5DDC-4AA0-94C5-E24FE344F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Team Profile</a:t>
            </a:r>
          </a:p>
          <a:p>
            <a:r>
              <a:rPr lang="en-US" altLang="ko-KR" dirty="0"/>
              <a:t>Game Design</a:t>
            </a:r>
          </a:p>
          <a:p>
            <a:r>
              <a:rPr lang="en-US" altLang="ko-KR" dirty="0"/>
              <a:t>Project</a:t>
            </a:r>
          </a:p>
          <a:p>
            <a:pPr lvl="1"/>
            <a:r>
              <a:rPr lang="en-US" altLang="ko-KR" dirty="0"/>
              <a:t>Schedule</a:t>
            </a:r>
          </a:p>
          <a:p>
            <a:pPr lvl="1"/>
            <a:r>
              <a:rPr lang="en-US" altLang="ko-KR" dirty="0"/>
              <a:t>Contents</a:t>
            </a:r>
          </a:p>
          <a:p>
            <a:pPr lvl="1"/>
            <a:r>
              <a:rPr lang="en-US" altLang="ko-KR" dirty="0"/>
              <a:t>Trouble Shooting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5967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6234DC-534B-4D74-9DAD-1C6DC8EF3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팀 번호</a:t>
            </a:r>
            <a:r>
              <a:rPr lang="en-US" altLang="ko-KR" dirty="0"/>
              <a:t>: #1</a:t>
            </a:r>
          </a:p>
          <a:p>
            <a:r>
              <a:rPr lang="ko-KR" altLang="en-US" dirty="0"/>
              <a:t>팀</a:t>
            </a:r>
            <a:r>
              <a:rPr lang="en-US" altLang="ko-KR" dirty="0"/>
              <a:t> </a:t>
            </a:r>
            <a:r>
              <a:rPr lang="ko-KR" altLang="en-US" dirty="0"/>
              <a:t>이름</a:t>
            </a:r>
            <a:r>
              <a:rPr lang="en-US" altLang="ko-KR" dirty="0"/>
              <a:t>: </a:t>
            </a:r>
            <a:r>
              <a:rPr lang="ko-KR" altLang="en-US" dirty="0" err="1"/>
              <a:t>모으미</a:t>
            </a:r>
            <a:endParaRPr lang="en-US" altLang="ko-KR" dirty="0"/>
          </a:p>
          <a:p>
            <a:r>
              <a:rPr lang="ko-KR" altLang="en-US" dirty="0"/>
              <a:t>팀원</a:t>
            </a:r>
            <a:r>
              <a:rPr lang="en-US" altLang="ko-KR" dirty="0"/>
              <a:t> </a:t>
            </a:r>
            <a:r>
              <a:rPr lang="ko-KR" altLang="en-US" dirty="0"/>
              <a:t>소개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4BC982-A9EE-4411-88AA-A7E5F8726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Team Profile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4008E1-DD77-4EF0-8670-B05700666F4C}"/>
              </a:ext>
            </a:extLst>
          </p:cNvPr>
          <p:cNvSpPr/>
          <p:nvPr/>
        </p:nvSpPr>
        <p:spPr>
          <a:xfrm>
            <a:off x="1055999" y="2337800"/>
            <a:ext cx="2160000" cy="28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EAB245-ADBF-4606-A298-A0C8BC312168}"/>
              </a:ext>
            </a:extLst>
          </p:cNvPr>
          <p:cNvSpPr/>
          <p:nvPr/>
        </p:nvSpPr>
        <p:spPr>
          <a:xfrm>
            <a:off x="3695999" y="2337800"/>
            <a:ext cx="2160000" cy="28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ED6655B-2603-437E-88CF-26F38694ED82}"/>
              </a:ext>
            </a:extLst>
          </p:cNvPr>
          <p:cNvSpPr/>
          <p:nvPr/>
        </p:nvSpPr>
        <p:spPr>
          <a:xfrm>
            <a:off x="6335999" y="2337800"/>
            <a:ext cx="2160000" cy="28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C8CAC5F-881C-47FD-BD91-DD31DBDCFF76}"/>
              </a:ext>
            </a:extLst>
          </p:cNvPr>
          <p:cNvSpPr/>
          <p:nvPr/>
        </p:nvSpPr>
        <p:spPr>
          <a:xfrm>
            <a:off x="8975998" y="2337800"/>
            <a:ext cx="2160000" cy="28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F84A9E-750F-4993-9685-78F6119F37F6}"/>
              </a:ext>
            </a:extLst>
          </p:cNvPr>
          <p:cNvSpPr txBox="1"/>
          <p:nvPr/>
        </p:nvSpPr>
        <p:spPr>
          <a:xfrm>
            <a:off x="1348765" y="5316057"/>
            <a:ext cx="15744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김남해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1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담당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NPC AI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구성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CFC21E-EBE8-4EC2-B3EC-0733DCBBBDCE}"/>
              </a:ext>
            </a:extLst>
          </p:cNvPr>
          <p:cNvSpPr txBox="1"/>
          <p:nvPr/>
        </p:nvSpPr>
        <p:spPr>
          <a:xfrm>
            <a:off x="3975139" y="5316057"/>
            <a:ext cx="16017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윤대식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2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담당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 /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이미지 제작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34E50E-67FD-4054-B668-41BC8A672065}"/>
              </a:ext>
            </a:extLst>
          </p:cNvPr>
          <p:cNvSpPr txBox="1"/>
          <p:nvPr/>
        </p:nvSpPr>
        <p:spPr>
          <a:xfrm>
            <a:off x="6538196" y="5316057"/>
            <a:ext cx="1755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송예찬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3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담당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사운드 제작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/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26FA9E-AC65-45DA-B2A3-2D6D378F6629}"/>
              </a:ext>
            </a:extLst>
          </p:cNvPr>
          <p:cNvSpPr txBox="1"/>
          <p:nvPr/>
        </p:nvSpPr>
        <p:spPr>
          <a:xfrm>
            <a:off x="9082817" y="5316057"/>
            <a:ext cx="19463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우성혁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4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담당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프로젝트 기획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/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관리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2A9FBB7-ED67-4128-8EDA-94F312016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998" y="2385800"/>
            <a:ext cx="2088000" cy="2784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4E8E459-4DF4-4117-A761-EE5C51AB1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02" y="2383155"/>
            <a:ext cx="2088000" cy="278928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688230D-4CCA-44C2-AB0F-5B702CFEE8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999" y="2385800"/>
            <a:ext cx="2088000" cy="2784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77727C4-A9D5-40EE-ABE1-EAE11A16AC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999" y="2381020"/>
            <a:ext cx="2088000" cy="279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814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C86FFD-8AC2-4663-A28B-813F4496B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Game Design</a:t>
            </a:r>
            <a:endParaRPr lang="ko-KR" altLang="en-US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E329C68C-5CC5-4E57-9603-2F9592CE1B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500781"/>
              </p:ext>
            </p:extLst>
          </p:nvPr>
        </p:nvGraphicFramePr>
        <p:xfrm>
          <a:off x="335999" y="900000"/>
          <a:ext cx="11520000" cy="499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3778503380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1241492918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696707209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3428443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프로젝트명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moz.A.I.c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2000" b="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개발 </a:t>
                      </a:r>
                      <a:r>
                        <a:rPr lang="ko-KR" altLang="en-US" sz="2000" b="0" kern="1200" dirty="0" err="1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팀명</a:t>
                      </a:r>
                      <a:endParaRPr lang="ko-KR" altLang="en-US" sz="2000" b="0" kern="1200" dirty="0">
                        <a:solidFill>
                          <a:schemeClr val="bg1"/>
                        </a:solidFill>
                        <a:latin typeface="프리젠테이션 4 Regular" pitchFamily="2" charset="-127"/>
                        <a:ea typeface="프리젠테이션 4 Regular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모으미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717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장르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3D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퍼즐 어드벤처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개발 팀원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김남해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송예찬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우성혁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윤대식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608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게임</a:t>
                      </a:r>
                      <a:r>
                        <a:rPr lang="en-US" altLang="ko-KR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플랫폼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PC - Windows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이용</a:t>
                      </a:r>
                      <a:r>
                        <a:rPr lang="en-US" altLang="ko-KR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가능 연령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12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세 이상 </a:t>
                      </a:r>
                      <a:r>
                        <a:rPr lang="ko-KR" altLang="en-US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이용가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222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개발 기간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2026.03.16 ~ 2026.04.29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109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개발 프로그램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Unity 2022.3.62f3 LTS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Visual Studio 2022 + GitHub Copilot / Visual Studio Code</a:t>
                      </a:r>
                    </a:p>
                    <a:p>
                      <a:pPr algn="ctr" latinLnBrk="1"/>
                      <a:r>
                        <a:rPr lang="en-US" altLang="ko-KR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OpenAI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 Unity(with </a:t>
                      </a:r>
                      <a:r>
                        <a:rPr lang="en-US" altLang="ko-KR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Helpy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)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GitHub Desktop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Adobe Photoshop 2026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Microsoft Copilot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386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타겟 사용자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퍼즐 요소와 스토리텔링을 선호하는 유저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996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게임 컨셉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이야기가 담긴 퍼즐을 풀어 나가며</a:t>
                      </a:r>
                      <a:endParaRPr lang="en-US" altLang="ko-KR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잃어버렸던 감각과 기억을 찾아 플레이어 자신의 이야기를 이어 완성하는 힐링 게임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94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컨셉</a:t>
                      </a:r>
                      <a:r>
                        <a:rPr lang="en-US" altLang="ko-KR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선정 이유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개발 팀 및 플레이어 양쪽의 입장에서 적은 부담으로 편안하게 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AI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와의 상호작용을 통한 힐링을 즐길 수 있음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082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250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93C7E-A8FD-4D9B-95AE-56699D07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Project Schedule</a:t>
            </a:r>
            <a:endParaRPr lang="ko-KR" altLang="en-US" dirty="0"/>
          </a:p>
        </p:txBody>
      </p:sp>
      <p:graphicFrame>
        <p:nvGraphicFramePr>
          <p:cNvPr id="7" name="표 12">
            <a:extLst>
              <a:ext uri="{FF2B5EF4-FFF2-40B4-BE49-F238E27FC236}">
                <a16:creationId xmlns:a16="http://schemas.microsoft.com/office/drawing/2014/main" id="{B89DDDF6-21B9-484C-9B59-50788C3C8D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8714835"/>
              </p:ext>
            </p:extLst>
          </p:nvPr>
        </p:nvGraphicFramePr>
        <p:xfrm>
          <a:off x="426000" y="897120"/>
          <a:ext cx="11340000" cy="5657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22348533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02810319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379369639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41258684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26282233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529219118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4038503308"/>
                    </a:ext>
                  </a:extLst>
                </a:gridCol>
              </a:tblGrid>
              <a:tr h="3401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SUN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MON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TUE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WED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THU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FRI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SAT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141900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3/16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9139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84824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4/1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18371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08134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870609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693821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267192"/>
                  </a:ext>
                </a:extLst>
              </a:tr>
            </a:tbl>
          </a:graphicData>
        </a:graphic>
      </p:graphicFrame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6C99184-3D85-4783-86E1-BF41288992F0}"/>
              </a:ext>
            </a:extLst>
          </p:cNvPr>
          <p:cNvSpPr/>
          <p:nvPr/>
        </p:nvSpPr>
        <p:spPr>
          <a:xfrm>
            <a:off x="9271000" y="4659815"/>
            <a:ext cx="651932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32E6707-097F-4637-9EF9-E9D4B29941C5}"/>
              </a:ext>
            </a:extLst>
          </p:cNvPr>
          <p:cNvSpPr/>
          <p:nvPr/>
        </p:nvSpPr>
        <p:spPr>
          <a:xfrm>
            <a:off x="425999" y="3061042"/>
            <a:ext cx="6474333" cy="216000"/>
          </a:xfrm>
          <a:prstGeom prst="roundRect">
            <a:avLst/>
          </a:prstGeom>
          <a:solidFill>
            <a:srgbClr val="FF0080"/>
          </a:solidFill>
          <a:ln>
            <a:solidFill>
              <a:srgbClr val="800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61D13BF-57B6-49D9-BC5A-B1713721549D}"/>
              </a:ext>
            </a:extLst>
          </p:cNvPr>
          <p:cNvSpPr/>
          <p:nvPr/>
        </p:nvSpPr>
        <p:spPr>
          <a:xfrm>
            <a:off x="425999" y="2536695"/>
            <a:ext cx="11339999" cy="216000"/>
          </a:xfrm>
          <a:prstGeom prst="roundRect">
            <a:avLst/>
          </a:prstGeom>
          <a:solidFill>
            <a:srgbClr val="FF0080"/>
          </a:solidFill>
          <a:ln>
            <a:solidFill>
              <a:srgbClr val="800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E39EE25-FF71-41F0-95F4-0B6338B28D9A}"/>
              </a:ext>
            </a:extLst>
          </p:cNvPr>
          <p:cNvSpPr/>
          <p:nvPr/>
        </p:nvSpPr>
        <p:spPr>
          <a:xfrm>
            <a:off x="2065867" y="1542453"/>
            <a:ext cx="9698566" cy="21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Game Design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5E8474B-B9FD-4581-805B-2FF35FB09251}"/>
              </a:ext>
            </a:extLst>
          </p:cNvPr>
          <p:cNvSpPr/>
          <p:nvPr/>
        </p:nvSpPr>
        <p:spPr>
          <a:xfrm>
            <a:off x="2065867" y="1769751"/>
            <a:ext cx="9698566" cy="216000"/>
          </a:xfrm>
          <a:prstGeom prst="roundRect">
            <a:avLst/>
          </a:prstGeom>
          <a:solidFill>
            <a:srgbClr val="FF0080"/>
          </a:solidFill>
          <a:ln>
            <a:solidFill>
              <a:srgbClr val="800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FC1A867-8805-4F7B-A044-1A01DD9111F9}"/>
              </a:ext>
            </a:extLst>
          </p:cNvPr>
          <p:cNvSpPr/>
          <p:nvPr/>
        </p:nvSpPr>
        <p:spPr>
          <a:xfrm>
            <a:off x="425999" y="2298098"/>
            <a:ext cx="6474334" cy="21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Game Design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BA89A50-ADF7-43D6-B910-EE7ED849E40F}"/>
              </a:ext>
            </a:extLst>
          </p:cNvPr>
          <p:cNvSpPr/>
          <p:nvPr/>
        </p:nvSpPr>
        <p:spPr>
          <a:xfrm>
            <a:off x="5290100" y="3286324"/>
            <a:ext cx="6474333" cy="216000"/>
          </a:xfrm>
          <a:prstGeom prst="roundRect">
            <a:avLst/>
          </a:prstGeom>
          <a:solidFill>
            <a:srgbClr val="C000C0"/>
          </a:solidFill>
          <a:ln>
            <a:solidFill>
              <a:srgbClr val="60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Alpha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0C1A7F8-6AB2-441B-B332-E60E571E063C}"/>
              </a:ext>
            </a:extLst>
          </p:cNvPr>
          <p:cNvSpPr/>
          <p:nvPr/>
        </p:nvSpPr>
        <p:spPr>
          <a:xfrm>
            <a:off x="425998" y="3819113"/>
            <a:ext cx="8099935" cy="216000"/>
          </a:xfrm>
          <a:prstGeom prst="roundRect">
            <a:avLst/>
          </a:prstGeom>
          <a:solidFill>
            <a:srgbClr val="C000C0"/>
          </a:solidFill>
          <a:ln>
            <a:solidFill>
              <a:srgbClr val="60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Alpha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467EAB4-183D-4597-B2EA-7422CFF0C8EE}"/>
              </a:ext>
            </a:extLst>
          </p:cNvPr>
          <p:cNvSpPr/>
          <p:nvPr/>
        </p:nvSpPr>
        <p:spPr>
          <a:xfrm>
            <a:off x="8525933" y="4044395"/>
            <a:ext cx="3237167" cy="216000"/>
          </a:xfrm>
          <a:prstGeom prst="roundRect">
            <a:avLst/>
          </a:prstGeom>
          <a:solidFill>
            <a:srgbClr val="8000FF"/>
          </a:solidFill>
          <a:ln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 Building / QA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8B5B2B6-6942-4DB8-8F67-C24120F4E484}"/>
              </a:ext>
            </a:extLst>
          </p:cNvPr>
          <p:cNvSpPr/>
          <p:nvPr/>
        </p:nvSpPr>
        <p:spPr>
          <a:xfrm>
            <a:off x="425998" y="4562832"/>
            <a:ext cx="8845002" cy="216000"/>
          </a:xfrm>
          <a:prstGeom prst="roundRect">
            <a:avLst/>
          </a:prstGeom>
          <a:solidFill>
            <a:srgbClr val="8000FF"/>
          </a:solidFill>
          <a:ln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 Building / QA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063D2BB-1CD2-4F83-A946-8DB077741A3A}"/>
              </a:ext>
            </a:extLst>
          </p:cNvPr>
          <p:cNvSpPr/>
          <p:nvPr/>
        </p:nvSpPr>
        <p:spPr>
          <a:xfrm>
            <a:off x="425998" y="5555341"/>
            <a:ext cx="11337102" cy="216000"/>
          </a:xfrm>
          <a:prstGeom prst="roundRect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Beta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C8BF40F-FACA-4A6B-B180-BE3911BE5FA7}"/>
              </a:ext>
            </a:extLst>
          </p:cNvPr>
          <p:cNvSpPr/>
          <p:nvPr/>
        </p:nvSpPr>
        <p:spPr>
          <a:xfrm>
            <a:off x="9922932" y="4802872"/>
            <a:ext cx="1840168" cy="216000"/>
          </a:xfrm>
          <a:prstGeom prst="roundRect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Beta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0982A17-66EA-4103-A0B1-6A0B247BDD0C}"/>
              </a:ext>
            </a:extLst>
          </p:cNvPr>
          <p:cNvSpPr/>
          <p:nvPr/>
        </p:nvSpPr>
        <p:spPr>
          <a:xfrm>
            <a:off x="6248400" y="6279372"/>
            <a:ext cx="651932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Final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8804EC6-7DAE-4735-845F-FADD3259B714}"/>
              </a:ext>
            </a:extLst>
          </p:cNvPr>
          <p:cNvSpPr/>
          <p:nvPr/>
        </p:nvSpPr>
        <p:spPr>
          <a:xfrm>
            <a:off x="425998" y="6186141"/>
            <a:ext cx="5822402" cy="216000"/>
          </a:xfrm>
          <a:prstGeom prst="roundRect">
            <a:avLst/>
          </a:prstGeom>
          <a:solidFill>
            <a:srgbClr val="0080FF"/>
          </a:solidFill>
          <a:ln>
            <a:solidFill>
              <a:srgbClr val="004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Final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3421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82E870D2-B0D5-45B8-B243-00223D171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03" y="1438699"/>
            <a:ext cx="8640000" cy="48613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DCB14E0-2710-49E3-9C19-331C0F87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Step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0D2461-2A1B-4F5B-889A-BC0A45C81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플레이어 이동 및 카메라 시스템 구현 </a:t>
            </a:r>
            <a:r>
              <a:rPr lang="en-US" altLang="ko-KR" dirty="0"/>
              <a:t>– </a:t>
            </a:r>
            <a:r>
              <a:rPr lang="ko-KR" altLang="en-US" dirty="0"/>
              <a:t>마우스 조작 </a:t>
            </a:r>
            <a:r>
              <a:rPr lang="en-US" altLang="ko-KR" dirty="0"/>
              <a:t>UI </a:t>
            </a:r>
            <a:r>
              <a:rPr lang="ko-KR" altLang="en-US" dirty="0"/>
              <a:t>추가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B68034-731D-40FC-8998-406DFBE4C8C7}"/>
              </a:ext>
            </a:extLst>
          </p:cNvPr>
          <p:cNvSpPr/>
          <p:nvPr/>
        </p:nvSpPr>
        <p:spPr>
          <a:xfrm>
            <a:off x="437597" y="5616809"/>
            <a:ext cx="298296" cy="570946"/>
          </a:xfrm>
          <a:prstGeom prst="rect">
            <a:avLst/>
          </a:prstGeom>
          <a:noFill/>
          <a:ln w="127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749C3D5-846B-4344-964E-A033766DF91A}"/>
              </a:ext>
            </a:extLst>
          </p:cNvPr>
          <p:cNvSpPr/>
          <p:nvPr/>
        </p:nvSpPr>
        <p:spPr>
          <a:xfrm>
            <a:off x="2856003" y="5256809"/>
            <a:ext cx="3600000" cy="360000"/>
          </a:xfrm>
          <a:prstGeom prst="rect">
            <a:avLst/>
          </a:prstGeom>
          <a:solidFill>
            <a:schemeClr val="tx1">
              <a:alpha val="50196"/>
            </a:schemeClr>
          </a:solidFill>
          <a:ln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F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키 입력으로 시점 잠금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on/off</a:t>
            </a:r>
            <a:endParaRPr lang="ko-KR" altLang="en-US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E0DA820E-9316-41A3-9DA4-D48520A524FA}"/>
              </a:ext>
            </a:extLst>
          </p:cNvPr>
          <p:cNvCxnSpPr>
            <a:cxnSpLocks/>
            <a:stCxn id="14" idx="0"/>
            <a:endCxn id="24" idx="1"/>
          </p:cNvCxnSpPr>
          <p:nvPr/>
        </p:nvCxnSpPr>
        <p:spPr>
          <a:xfrm rot="5400000" flipH="1" flipV="1">
            <a:off x="1631374" y="4392180"/>
            <a:ext cx="180000" cy="2269258"/>
          </a:xfrm>
          <a:prstGeom prst="bentConnector2">
            <a:avLst/>
          </a:prstGeom>
          <a:ln w="12700">
            <a:solidFill>
              <a:srgbClr val="FF0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A059969-D6C0-4105-8BD6-CA571C41BA15}"/>
              </a:ext>
            </a:extLst>
          </p:cNvPr>
          <p:cNvSpPr/>
          <p:nvPr/>
        </p:nvSpPr>
        <p:spPr>
          <a:xfrm>
            <a:off x="767797" y="5618187"/>
            <a:ext cx="578403" cy="570946"/>
          </a:xfrm>
          <a:prstGeom prst="rect">
            <a:avLst/>
          </a:prstGeom>
          <a:noFill/>
          <a:ln w="12700">
            <a:solidFill>
              <a:srgbClr val="8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3F2791D-1A75-4593-830A-C8F94998EC79}"/>
              </a:ext>
            </a:extLst>
          </p:cNvPr>
          <p:cNvSpPr/>
          <p:nvPr/>
        </p:nvSpPr>
        <p:spPr>
          <a:xfrm>
            <a:off x="2856003" y="6189133"/>
            <a:ext cx="3600000" cy="360000"/>
          </a:xfrm>
          <a:prstGeom prst="rect">
            <a:avLst/>
          </a:prstGeom>
          <a:solidFill>
            <a:schemeClr val="tx1">
              <a:alpha val="50196"/>
            </a:schemeClr>
          </a:solidFill>
          <a:ln>
            <a:solidFill>
              <a:srgbClr val="8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마우스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우클릭으로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1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인칭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/3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인칭 전환</a:t>
            </a: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67D075E4-B171-4E1C-AEDA-43432ED5F1F2}"/>
              </a:ext>
            </a:extLst>
          </p:cNvPr>
          <p:cNvCxnSpPr>
            <a:cxnSpLocks/>
            <a:stCxn id="46" idx="2"/>
            <a:endCxn id="47" idx="1"/>
          </p:cNvCxnSpPr>
          <p:nvPr/>
        </p:nvCxnSpPr>
        <p:spPr>
          <a:xfrm rot="16200000" flipH="1">
            <a:off x="1866501" y="5379631"/>
            <a:ext cx="180000" cy="1799004"/>
          </a:xfrm>
          <a:prstGeom prst="bentConnector2">
            <a:avLst/>
          </a:prstGeom>
          <a:ln w="12700">
            <a:solidFill>
              <a:srgbClr val="8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9DB315A-99CD-4330-95F4-D18D5A181184}"/>
              </a:ext>
            </a:extLst>
          </p:cNvPr>
          <p:cNvSpPr txBox="1"/>
          <p:nvPr/>
        </p:nvSpPr>
        <p:spPr>
          <a:xfrm>
            <a:off x="8976001" y="1438699"/>
            <a:ext cx="288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effectLst/>
                <a:latin typeface="프리젠테이션 3 Light" pitchFamily="2" charset="-127"/>
                <a:ea typeface="프리젠테이션 3 Light" pitchFamily="2" charset="-127"/>
                <a:cs typeface="맑은 고딕" panose="020B0503020000020004" pitchFamily="34" charset="-127"/>
              </a:rPr>
              <a:t>3D </a:t>
            </a:r>
            <a:r>
              <a:rPr lang="ko-KR" altLang="en-US" dirty="0">
                <a:effectLst/>
                <a:latin typeface="프리젠테이션 3 Light" pitchFamily="2" charset="-127"/>
                <a:ea typeface="프리젠테이션 3 Light" pitchFamily="2" charset="-127"/>
                <a:cs typeface="맑은 고딕" panose="020B0503020000020004" pitchFamily="34" charset="-127"/>
              </a:rPr>
              <a:t>시점 회전 게임인 만큼 마우스 고정 기능이 있었으면 좋겠음</a:t>
            </a:r>
            <a:endParaRPr lang="en-US" altLang="ko-KR" dirty="0">
              <a:effectLst/>
              <a:latin typeface="프리젠테이션 3 Light" pitchFamily="2" charset="-127"/>
              <a:ea typeface="프리젠테이션 3 Light" pitchFamily="2" charset="-127"/>
              <a:cs typeface="맑은 고딕" panose="020B0503020000020004" pitchFamily="34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ko-KR" dirty="0">
                <a:effectLst/>
                <a:latin typeface="프리젠테이션 3 Light" pitchFamily="2" charset="-127"/>
                <a:ea typeface="프리젠테이션 3 Light" pitchFamily="2" charset="-127"/>
                <a:cs typeface="맑은 고딕" panose="020B0503020000020004" pitchFamily="34" charset="-127"/>
              </a:rPr>
              <a:t>마우스 </a:t>
            </a:r>
            <a:r>
              <a:rPr lang="ko-KR" altLang="ko-KR" dirty="0" err="1">
                <a:effectLst/>
                <a:latin typeface="프리젠테이션 3 Light" pitchFamily="2" charset="-127"/>
                <a:ea typeface="프리젠테이션 3 Light" pitchFamily="2" charset="-127"/>
                <a:cs typeface="맑은 고딕" panose="020B0503020000020004" pitchFamily="34" charset="-127"/>
              </a:rPr>
              <a:t>우클릭이</a:t>
            </a:r>
            <a:r>
              <a:rPr lang="ko-KR" altLang="ko-KR" dirty="0">
                <a:effectLst/>
                <a:latin typeface="프리젠테이션 3 Light" pitchFamily="2" charset="-127"/>
                <a:ea typeface="프리젠테이션 3 Light" pitchFamily="2" charset="-127"/>
                <a:cs typeface="맑은 고딕" panose="020B0503020000020004" pitchFamily="34" charset="-127"/>
              </a:rPr>
              <a:t> 확대인지 가이드라인 필요할 듯 보임</a:t>
            </a:r>
            <a:r>
              <a:rPr lang="en-US" altLang="ko-KR" dirty="0">
                <a:effectLst/>
                <a:latin typeface="프리젠테이션 3 Light" pitchFamily="2" charset="-127"/>
                <a:ea typeface="프리젠테이션 3 Light" pitchFamily="2" charset="-127"/>
                <a:cs typeface="맑은 고딕" panose="020B0503020000020004" pitchFamily="34" charset="-127"/>
              </a:rPr>
              <a:t>.</a:t>
            </a:r>
            <a:endParaRPr lang="en-US" altLang="ko-KR" sz="2000" dirty="0">
              <a:effectLst/>
              <a:latin typeface="프리젠테이션 3 Light" pitchFamily="2" charset="-127"/>
              <a:ea typeface="프리젠테이션 3 Light" pitchFamily="2" charset="-127"/>
              <a:cs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8187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B14E0-2710-49E3-9C19-331C0F87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Step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0D2461-2A1B-4F5B-889A-BC0A45C81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플레이어 이동 및 카메라 시스템 구현 </a:t>
            </a:r>
            <a:r>
              <a:rPr lang="en-US" altLang="ko-KR" dirty="0"/>
              <a:t>– </a:t>
            </a:r>
            <a:r>
              <a:rPr lang="ko-KR" altLang="en-US" dirty="0"/>
              <a:t>마우스 시점 잠금 조작 추가</a:t>
            </a:r>
          </a:p>
        </p:txBody>
      </p:sp>
      <p:pic>
        <p:nvPicPr>
          <p:cNvPr id="4" name="내용 개체 틀 5">
            <a:extLst>
              <a:ext uri="{FF2B5EF4-FFF2-40B4-BE49-F238E27FC236}">
                <a16:creationId xmlns:a16="http://schemas.microsoft.com/office/drawing/2014/main" id="{C7897FAB-FC8B-4F5C-B8A3-6DB380BFA4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1" t="22259" r="2841" b="22259"/>
          <a:stretch/>
        </p:blipFill>
        <p:spPr>
          <a:xfrm>
            <a:off x="1001500" y="2153934"/>
            <a:ext cx="10189000" cy="3600000"/>
          </a:xfrm>
          <a:prstGeom prst="rect">
            <a:avLst/>
          </a:prstGeom>
        </p:spPr>
      </p:pic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905DF992-B8E5-4A5D-A30B-2B00C5BD6F96}"/>
              </a:ext>
            </a:extLst>
          </p:cNvPr>
          <p:cNvSpPr/>
          <p:nvPr/>
        </p:nvSpPr>
        <p:spPr>
          <a:xfrm>
            <a:off x="2195479" y="3369110"/>
            <a:ext cx="1515534" cy="1024467"/>
          </a:xfrm>
          <a:custGeom>
            <a:avLst/>
            <a:gdLst>
              <a:gd name="connsiteX0" fmla="*/ 355600 w 1515534"/>
              <a:gd name="connsiteY0" fmla="*/ 0 h 1024467"/>
              <a:gd name="connsiteX1" fmla="*/ 897466 w 1515534"/>
              <a:gd name="connsiteY1" fmla="*/ 0 h 1024467"/>
              <a:gd name="connsiteX2" fmla="*/ 897466 w 1515534"/>
              <a:gd name="connsiteY2" fmla="*/ 491068 h 1024467"/>
              <a:gd name="connsiteX3" fmla="*/ 1515534 w 1515534"/>
              <a:gd name="connsiteY3" fmla="*/ 491068 h 1024467"/>
              <a:gd name="connsiteX4" fmla="*/ 1515534 w 1515534"/>
              <a:gd name="connsiteY4" fmla="*/ 1024467 h 1024467"/>
              <a:gd name="connsiteX5" fmla="*/ 0 w 1515534"/>
              <a:gd name="connsiteY5" fmla="*/ 1024467 h 1024467"/>
              <a:gd name="connsiteX6" fmla="*/ 0 w 1515534"/>
              <a:gd name="connsiteY6" fmla="*/ 491068 h 1024467"/>
              <a:gd name="connsiteX7" fmla="*/ 355600 w 1515534"/>
              <a:gd name="connsiteY7" fmla="*/ 491068 h 1024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5534" h="1024467">
                <a:moveTo>
                  <a:pt x="355600" y="0"/>
                </a:moveTo>
                <a:lnTo>
                  <a:pt x="897466" y="0"/>
                </a:lnTo>
                <a:lnTo>
                  <a:pt x="897466" y="491068"/>
                </a:lnTo>
                <a:lnTo>
                  <a:pt x="1515534" y="491068"/>
                </a:lnTo>
                <a:lnTo>
                  <a:pt x="1515534" y="1024467"/>
                </a:lnTo>
                <a:lnTo>
                  <a:pt x="0" y="1024467"/>
                </a:lnTo>
                <a:lnTo>
                  <a:pt x="0" y="491068"/>
                </a:lnTo>
                <a:lnTo>
                  <a:pt x="355600" y="491068"/>
                </a:lnTo>
                <a:close/>
              </a:path>
            </a:pathLst>
          </a:custGeom>
          <a:noFill/>
          <a:ln w="38100"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63205A-1C0C-4A26-A1BD-881D3D59747A}"/>
              </a:ext>
            </a:extLst>
          </p:cNvPr>
          <p:cNvSpPr txBox="1"/>
          <p:nvPr/>
        </p:nvSpPr>
        <p:spPr>
          <a:xfrm>
            <a:off x="2441488" y="5898570"/>
            <a:ext cx="1515534" cy="584775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이동</a:t>
            </a:r>
            <a:endParaRPr lang="en-US" altLang="ko-KR" sz="1600" dirty="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앞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뒤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좌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우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)</a:t>
            </a:r>
            <a:endParaRPr lang="ko-KR" altLang="en-US" sz="1600" dirty="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9F9D6A4-85F1-46C3-88A5-88DBFCE59119}"/>
              </a:ext>
            </a:extLst>
          </p:cNvPr>
          <p:cNvSpPr/>
          <p:nvPr/>
        </p:nvSpPr>
        <p:spPr>
          <a:xfrm>
            <a:off x="9682608" y="2610944"/>
            <a:ext cx="395986" cy="395986"/>
          </a:xfrm>
          <a:prstGeom prst="ellipse">
            <a:avLst/>
          </a:prstGeom>
          <a:noFill/>
          <a:ln w="38100"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112A7-29FC-4452-BB97-45EA998DF96D}"/>
              </a:ext>
            </a:extLst>
          </p:cNvPr>
          <p:cNvSpPr txBox="1"/>
          <p:nvPr/>
        </p:nvSpPr>
        <p:spPr>
          <a:xfrm>
            <a:off x="9386292" y="1703246"/>
            <a:ext cx="988618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UI 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클릭</a:t>
            </a:r>
          </a:p>
        </p:txBody>
      </p:sp>
      <p:cxnSp>
        <p:nvCxnSpPr>
          <p:cNvPr id="9" name="연결선: 꺾임 60">
            <a:extLst>
              <a:ext uri="{FF2B5EF4-FFF2-40B4-BE49-F238E27FC236}">
                <a16:creationId xmlns:a16="http://schemas.microsoft.com/office/drawing/2014/main" id="{FDE877E9-60D7-4FE1-897D-B8F6F44AA10B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9880601" y="2041800"/>
            <a:ext cx="0" cy="569144"/>
          </a:xfrm>
          <a:prstGeom prst="straightConnector1">
            <a:avLst/>
          </a:prstGeom>
          <a:ln w="38100">
            <a:solidFill>
              <a:srgbClr val="400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CF37ED8-C6F5-4580-A643-10872A7462F7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3199255" y="4393577"/>
            <a:ext cx="6851" cy="1504993"/>
          </a:xfrm>
          <a:prstGeom prst="straightConnector1">
            <a:avLst/>
          </a:prstGeom>
          <a:ln w="38100">
            <a:solidFill>
              <a:srgbClr val="400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E334AC-C0F8-4EC3-A3A5-02D2BACC67CC}"/>
              </a:ext>
            </a:extLst>
          </p:cNvPr>
          <p:cNvSpPr/>
          <p:nvPr/>
        </p:nvSpPr>
        <p:spPr>
          <a:xfrm>
            <a:off x="1278467" y="4406900"/>
            <a:ext cx="1143000" cy="457200"/>
          </a:xfrm>
          <a:prstGeom prst="rect">
            <a:avLst/>
          </a:prstGeom>
          <a:noFill/>
          <a:ln w="38100"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7BE9D7-489C-4E1D-990C-374FE433958C}"/>
              </a:ext>
            </a:extLst>
          </p:cNvPr>
          <p:cNvSpPr txBox="1"/>
          <p:nvPr/>
        </p:nvSpPr>
        <p:spPr>
          <a:xfrm>
            <a:off x="1312334" y="5873340"/>
            <a:ext cx="914400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달리기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859CEBB-4202-45C3-A05A-C6C7C6643CA7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1769534" y="4864100"/>
            <a:ext cx="0" cy="1009240"/>
          </a:xfrm>
          <a:prstGeom prst="straightConnector1">
            <a:avLst/>
          </a:prstGeom>
          <a:ln w="38100">
            <a:solidFill>
              <a:srgbClr val="400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9B6724D-9890-4243-A8B7-1D28B75432FF}"/>
              </a:ext>
            </a:extLst>
          </p:cNvPr>
          <p:cNvSpPr/>
          <p:nvPr/>
        </p:nvSpPr>
        <p:spPr>
          <a:xfrm>
            <a:off x="3513834" y="4922338"/>
            <a:ext cx="2556000" cy="533399"/>
          </a:xfrm>
          <a:prstGeom prst="rect">
            <a:avLst/>
          </a:prstGeom>
          <a:noFill/>
          <a:ln w="38100"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584132-11BB-4364-85F6-B4D3AFD1C547}"/>
              </a:ext>
            </a:extLst>
          </p:cNvPr>
          <p:cNvSpPr txBox="1"/>
          <p:nvPr/>
        </p:nvSpPr>
        <p:spPr>
          <a:xfrm>
            <a:off x="4334634" y="5898570"/>
            <a:ext cx="914400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점프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DBD4656-5D6E-4DE5-9DA0-84DEE56E6E4F}"/>
              </a:ext>
            </a:extLst>
          </p:cNvPr>
          <p:cNvCxnSpPr>
            <a:cxnSpLocks/>
            <a:stCxn id="15" idx="0"/>
            <a:endCxn id="14" idx="2"/>
          </p:cNvCxnSpPr>
          <p:nvPr/>
        </p:nvCxnSpPr>
        <p:spPr>
          <a:xfrm flipV="1">
            <a:off x="4791834" y="5455737"/>
            <a:ext cx="0" cy="442833"/>
          </a:xfrm>
          <a:prstGeom prst="straightConnector1">
            <a:avLst/>
          </a:prstGeom>
          <a:ln w="38100">
            <a:solidFill>
              <a:srgbClr val="400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화살표: 왼쪽/오른쪽/위쪽/아래쪽 16">
            <a:extLst>
              <a:ext uri="{FF2B5EF4-FFF2-40B4-BE49-F238E27FC236}">
                <a16:creationId xmlns:a16="http://schemas.microsoft.com/office/drawing/2014/main" id="{8450B90E-EC57-42DF-BCD2-12C0A16A4A38}"/>
              </a:ext>
            </a:extLst>
          </p:cNvPr>
          <p:cNvSpPr/>
          <p:nvPr/>
        </p:nvSpPr>
        <p:spPr>
          <a:xfrm>
            <a:off x="9686210" y="3436542"/>
            <a:ext cx="1080000" cy="1080000"/>
          </a:xfrm>
          <a:prstGeom prst="quadArrow">
            <a:avLst/>
          </a:prstGeom>
          <a:noFill/>
          <a:ln w="38100"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7A9C17-8E75-4E19-9106-D2116EFF2B13}"/>
              </a:ext>
            </a:extLst>
          </p:cNvPr>
          <p:cNvSpPr txBox="1"/>
          <p:nvPr/>
        </p:nvSpPr>
        <p:spPr>
          <a:xfrm>
            <a:off x="9618135" y="5872390"/>
            <a:ext cx="1216150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시야 회전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C605134-19F2-45AE-A0C7-5ACFE7D1DC56}"/>
              </a:ext>
            </a:extLst>
          </p:cNvPr>
          <p:cNvCxnSpPr>
            <a:cxnSpLocks/>
            <a:stCxn id="18" idx="0"/>
            <a:endCxn id="17" idx="2"/>
          </p:cNvCxnSpPr>
          <p:nvPr/>
        </p:nvCxnSpPr>
        <p:spPr>
          <a:xfrm flipV="1">
            <a:off x="10226210" y="4516542"/>
            <a:ext cx="0" cy="1355848"/>
          </a:xfrm>
          <a:prstGeom prst="straightConnector1">
            <a:avLst/>
          </a:prstGeom>
          <a:ln w="38100">
            <a:solidFill>
              <a:srgbClr val="400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CA04ACC-C836-4625-BAFE-FBC76EA63666}"/>
              </a:ext>
            </a:extLst>
          </p:cNvPr>
          <p:cNvSpPr/>
          <p:nvPr/>
        </p:nvSpPr>
        <p:spPr>
          <a:xfrm>
            <a:off x="3114118" y="3369110"/>
            <a:ext cx="468000" cy="468000"/>
          </a:xfrm>
          <a:prstGeom prst="rect">
            <a:avLst/>
          </a:prstGeom>
          <a:noFill/>
          <a:ln w="38100"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87DDAF-478B-4719-868F-1FECB5EDC07F}"/>
              </a:ext>
            </a:extLst>
          </p:cNvPr>
          <p:cNvSpPr txBox="1"/>
          <p:nvPr/>
        </p:nvSpPr>
        <p:spPr>
          <a:xfrm>
            <a:off x="2430252" y="1821322"/>
            <a:ext cx="889898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상호작용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E3BE9E8-3EEC-40E0-A14D-50958DED1EFC}"/>
              </a:ext>
            </a:extLst>
          </p:cNvPr>
          <p:cNvCxnSpPr>
            <a:cxnSpLocks/>
            <a:stCxn id="21" idx="3"/>
            <a:endCxn id="20" idx="0"/>
          </p:cNvCxnSpPr>
          <p:nvPr/>
        </p:nvCxnSpPr>
        <p:spPr>
          <a:xfrm>
            <a:off x="3320150" y="1990599"/>
            <a:ext cx="27968" cy="1378511"/>
          </a:xfrm>
          <a:prstGeom prst="straightConnector1">
            <a:avLst/>
          </a:prstGeom>
          <a:ln w="38100">
            <a:solidFill>
              <a:srgbClr val="400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타원 22">
            <a:extLst>
              <a:ext uri="{FF2B5EF4-FFF2-40B4-BE49-F238E27FC236}">
                <a16:creationId xmlns:a16="http://schemas.microsoft.com/office/drawing/2014/main" id="{5DDBB728-6E0C-47A1-88AA-1C0CF527A8B5}"/>
              </a:ext>
            </a:extLst>
          </p:cNvPr>
          <p:cNvSpPr/>
          <p:nvPr/>
        </p:nvSpPr>
        <p:spPr>
          <a:xfrm>
            <a:off x="10417205" y="2610944"/>
            <a:ext cx="395986" cy="395986"/>
          </a:xfrm>
          <a:prstGeom prst="ellipse">
            <a:avLst/>
          </a:prstGeom>
          <a:noFill/>
          <a:ln w="38100"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D4191C-7A30-49C5-BE92-7E08F4B85EB1}"/>
              </a:ext>
            </a:extLst>
          </p:cNvPr>
          <p:cNvSpPr txBox="1"/>
          <p:nvPr/>
        </p:nvSpPr>
        <p:spPr>
          <a:xfrm>
            <a:off x="11151802" y="2639660"/>
            <a:ext cx="988618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시점 전환</a:t>
            </a:r>
          </a:p>
        </p:txBody>
      </p:sp>
      <p:cxnSp>
        <p:nvCxnSpPr>
          <p:cNvPr id="25" name="연결선: 꺾임 60">
            <a:extLst>
              <a:ext uri="{FF2B5EF4-FFF2-40B4-BE49-F238E27FC236}">
                <a16:creationId xmlns:a16="http://schemas.microsoft.com/office/drawing/2014/main" id="{8B4E4726-3A3E-44A2-BB65-E794475F7638}"/>
              </a:ext>
            </a:extLst>
          </p:cNvPr>
          <p:cNvCxnSpPr>
            <a:cxnSpLocks/>
            <a:stCxn id="24" idx="1"/>
            <a:endCxn id="23" idx="6"/>
          </p:cNvCxnSpPr>
          <p:nvPr/>
        </p:nvCxnSpPr>
        <p:spPr>
          <a:xfrm flipH="1">
            <a:off x="10813191" y="2808937"/>
            <a:ext cx="338611" cy="0"/>
          </a:xfrm>
          <a:prstGeom prst="straightConnector1">
            <a:avLst/>
          </a:prstGeom>
          <a:ln w="38100">
            <a:solidFill>
              <a:srgbClr val="400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5B4CE3B-1D7D-4FD7-8986-A7B351DD06FB}"/>
              </a:ext>
            </a:extLst>
          </p:cNvPr>
          <p:cNvSpPr/>
          <p:nvPr/>
        </p:nvSpPr>
        <p:spPr>
          <a:xfrm>
            <a:off x="3778253" y="3899805"/>
            <a:ext cx="468000" cy="468000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E80955-1675-43ED-A92A-A22499BFB440}"/>
              </a:ext>
            </a:extLst>
          </p:cNvPr>
          <p:cNvSpPr txBox="1"/>
          <p:nvPr/>
        </p:nvSpPr>
        <p:spPr>
          <a:xfrm>
            <a:off x="4007745" y="1821322"/>
            <a:ext cx="988615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시점 잠금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BABD320D-B5C3-4608-B904-053380B75EBC}"/>
              </a:ext>
            </a:extLst>
          </p:cNvPr>
          <p:cNvCxnSpPr>
            <a:cxnSpLocks/>
            <a:stCxn id="32" idx="1"/>
            <a:endCxn id="31" idx="0"/>
          </p:cNvCxnSpPr>
          <p:nvPr/>
        </p:nvCxnSpPr>
        <p:spPr>
          <a:xfrm>
            <a:off x="4007745" y="1990599"/>
            <a:ext cx="4508" cy="1909206"/>
          </a:xfrm>
          <a:prstGeom prst="straightConnector1">
            <a:avLst/>
          </a:prstGeom>
          <a:ln w="38100">
            <a:solidFill>
              <a:srgbClr val="FF0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86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그림 62">
            <a:extLst>
              <a:ext uri="{FF2B5EF4-FFF2-40B4-BE49-F238E27FC236}">
                <a16:creationId xmlns:a16="http://schemas.microsoft.com/office/drawing/2014/main" id="{6E3C6E74-004E-40F6-9E76-A75737D07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97" y="1423023"/>
            <a:ext cx="4001058" cy="1057423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E51642A1-E816-4352-BEFE-40C0B7142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649" y="1423023"/>
            <a:ext cx="5400000" cy="49201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DCB14E0-2710-49E3-9C19-331C0F87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Step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0D2461-2A1B-4F5B-889A-BC0A45C81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플레이어 이동 및 카메라 시스템 구현 </a:t>
            </a:r>
            <a:r>
              <a:rPr lang="en-US" altLang="ko-KR" dirty="0"/>
              <a:t>– </a:t>
            </a:r>
            <a:r>
              <a:rPr lang="ko-KR" altLang="en-US" dirty="0"/>
              <a:t>마우스 시점 잠금 코드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B68034-731D-40FC-8998-406DFBE4C8C7}"/>
              </a:ext>
            </a:extLst>
          </p:cNvPr>
          <p:cNvSpPr/>
          <p:nvPr/>
        </p:nvSpPr>
        <p:spPr>
          <a:xfrm>
            <a:off x="573059" y="1692585"/>
            <a:ext cx="2043142" cy="690615"/>
          </a:xfrm>
          <a:prstGeom prst="rect">
            <a:avLst/>
          </a:prstGeom>
          <a:noFill/>
          <a:ln w="127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749C3D5-846B-4344-964E-A033766DF91A}"/>
              </a:ext>
            </a:extLst>
          </p:cNvPr>
          <p:cNvSpPr/>
          <p:nvPr/>
        </p:nvSpPr>
        <p:spPr>
          <a:xfrm>
            <a:off x="8762709" y="1991217"/>
            <a:ext cx="2880000" cy="360000"/>
          </a:xfrm>
          <a:prstGeom prst="rect">
            <a:avLst/>
          </a:prstGeom>
          <a:solidFill>
            <a:schemeClr val="tx1">
              <a:alpha val="50196"/>
            </a:schemeClr>
          </a:solidFill>
          <a:ln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F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키 입력으로 시점 잠금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on/off</a:t>
            </a:r>
            <a:endParaRPr lang="ko-KR" altLang="en-US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E0DA820E-9316-41A3-9DA4-D48520A524FA}"/>
              </a:ext>
            </a:extLst>
          </p:cNvPr>
          <p:cNvCxnSpPr>
            <a:cxnSpLocks/>
            <a:stCxn id="69" idx="3"/>
            <a:endCxn id="24" idx="1"/>
          </p:cNvCxnSpPr>
          <p:nvPr/>
        </p:nvCxnSpPr>
        <p:spPr>
          <a:xfrm>
            <a:off x="6845851" y="2005910"/>
            <a:ext cx="1916858" cy="165307"/>
          </a:xfrm>
          <a:prstGeom prst="bentConnector3">
            <a:avLst>
              <a:gd name="adj1" fmla="val 50000"/>
            </a:avLst>
          </a:prstGeom>
          <a:ln w="12700">
            <a:solidFill>
              <a:srgbClr val="FF0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AA342B7-5A33-4153-9390-BFC9B12CDC0B}"/>
              </a:ext>
            </a:extLst>
          </p:cNvPr>
          <p:cNvSpPr/>
          <p:nvPr/>
        </p:nvSpPr>
        <p:spPr>
          <a:xfrm>
            <a:off x="4790798" y="2779217"/>
            <a:ext cx="2610404" cy="344824"/>
          </a:xfrm>
          <a:prstGeom prst="rect">
            <a:avLst/>
          </a:prstGeom>
          <a:noFill/>
          <a:ln w="127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86AF372-7098-4218-B1F8-ED8D25A2826F}"/>
              </a:ext>
            </a:extLst>
          </p:cNvPr>
          <p:cNvSpPr/>
          <p:nvPr/>
        </p:nvSpPr>
        <p:spPr>
          <a:xfrm>
            <a:off x="8759262" y="2758230"/>
            <a:ext cx="2880000" cy="360000"/>
          </a:xfrm>
          <a:prstGeom prst="rect">
            <a:avLst/>
          </a:prstGeom>
          <a:solidFill>
            <a:schemeClr val="tx1">
              <a:alpha val="50196"/>
            </a:schemeClr>
          </a:solidFill>
          <a:ln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열린 팝업이 있으면 시점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잠금</a:t>
            </a:r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B1989975-64DF-445D-AB1B-03F87AE3C458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 flipV="1">
            <a:off x="7401202" y="2938230"/>
            <a:ext cx="1358060" cy="13399"/>
          </a:xfrm>
          <a:prstGeom prst="bentConnector3">
            <a:avLst>
              <a:gd name="adj1" fmla="val 50000"/>
            </a:avLst>
          </a:prstGeom>
          <a:ln w="12700">
            <a:solidFill>
              <a:srgbClr val="FF0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0F8CD54-C80B-456D-A0C9-3AC97E6CAC17}"/>
              </a:ext>
            </a:extLst>
          </p:cNvPr>
          <p:cNvSpPr/>
          <p:nvPr/>
        </p:nvSpPr>
        <p:spPr>
          <a:xfrm>
            <a:off x="4799262" y="3564832"/>
            <a:ext cx="2974473" cy="971890"/>
          </a:xfrm>
          <a:prstGeom prst="rect">
            <a:avLst/>
          </a:prstGeom>
          <a:noFill/>
          <a:ln w="127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220A870-4B1A-4B94-B769-C03786DB09AA}"/>
              </a:ext>
            </a:extLst>
          </p:cNvPr>
          <p:cNvSpPr/>
          <p:nvPr/>
        </p:nvSpPr>
        <p:spPr>
          <a:xfrm>
            <a:off x="8759262" y="4176722"/>
            <a:ext cx="2880000" cy="360000"/>
          </a:xfrm>
          <a:prstGeom prst="rect">
            <a:avLst/>
          </a:prstGeom>
          <a:solidFill>
            <a:schemeClr val="tx1">
              <a:alpha val="50196"/>
            </a:schemeClr>
          </a:solidFill>
          <a:ln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재생 중 시점 잠금 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숨김</a:t>
            </a:r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FF7F0B21-A9C3-4E5E-BFBD-2046A337DA7A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>
            <a:off x="7773735" y="4050777"/>
            <a:ext cx="985527" cy="305945"/>
          </a:xfrm>
          <a:prstGeom prst="bentConnector3">
            <a:avLst>
              <a:gd name="adj1" fmla="val 50000"/>
            </a:avLst>
          </a:prstGeom>
          <a:ln w="12700">
            <a:solidFill>
              <a:srgbClr val="FF0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A059969-D6C0-4105-8BD6-CA571C41BA15}"/>
              </a:ext>
            </a:extLst>
          </p:cNvPr>
          <p:cNvSpPr/>
          <p:nvPr/>
        </p:nvSpPr>
        <p:spPr>
          <a:xfrm>
            <a:off x="4790798" y="4972075"/>
            <a:ext cx="3228471" cy="305945"/>
          </a:xfrm>
          <a:prstGeom prst="rect">
            <a:avLst/>
          </a:prstGeom>
          <a:noFill/>
          <a:ln w="12700">
            <a:solidFill>
              <a:srgbClr val="8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3F2791D-1A75-4593-830A-C8F94998EC79}"/>
              </a:ext>
            </a:extLst>
          </p:cNvPr>
          <p:cNvSpPr/>
          <p:nvPr/>
        </p:nvSpPr>
        <p:spPr>
          <a:xfrm>
            <a:off x="8759262" y="4918020"/>
            <a:ext cx="2880000" cy="360000"/>
          </a:xfrm>
          <a:prstGeom prst="rect">
            <a:avLst/>
          </a:prstGeom>
          <a:solidFill>
            <a:schemeClr val="tx1">
              <a:alpha val="50196"/>
            </a:schemeClr>
          </a:solidFill>
          <a:ln>
            <a:solidFill>
              <a:srgbClr val="8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시점 잠금 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출력 관리 코드</a:t>
            </a: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67D075E4-B171-4E1C-AEDA-43432ED5F1F2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 flipV="1">
            <a:off x="8019269" y="5098020"/>
            <a:ext cx="739993" cy="27028"/>
          </a:xfrm>
          <a:prstGeom prst="bentConnector3">
            <a:avLst>
              <a:gd name="adj1" fmla="val 50000"/>
            </a:avLst>
          </a:prstGeom>
          <a:ln w="12700">
            <a:solidFill>
              <a:srgbClr val="8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3028BC44-4FBF-4903-A892-A671D88CC75B}"/>
              </a:ext>
            </a:extLst>
          </p:cNvPr>
          <p:cNvSpPr/>
          <p:nvPr/>
        </p:nvSpPr>
        <p:spPr>
          <a:xfrm>
            <a:off x="4802709" y="1660602"/>
            <a:ext cx="2043142" cy="690615"/>
          </a:xfrm>
          <a:prstGeom prst="rect">
            <a:avLst/>
          </a:prstGeom>
          <a:noFill/>
          <a:ln w="127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1893D53E-17FB-49DC-80F8-A7E2B34D561B}"/>
              </a:ext>
            </a:extLst>
          </p:cNvPr>
          <p:cNvCxnSpPr>
            <a:stCxn id="14" idx="3"/>
            <a:endCxn id="69" idx="1"/>
          </p:cNvCxnSpPr>
          <p:nvPr/>
        </p:nvCxnSpPr>
        <p:spPr>
          <a:xfrm flipV="1">
            <a:off x="2616201" y="2005910"/>
            <a:ext cx="2186508" cy="31983"/>
          </a:xfrm>
          <a:prstGeom prst="straightConnector1">
            <a:avLst/>
          </a:prstGeom>
          <a:ln w="12700">
            <a:solidFill>
              <a:srgbClr val="FF0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1DDB172B-AA9C-482F-AFC7-1A48A13B42FB}"/>
              </a:ext>
            </a:extLst>
          </p:cNvPr>
          <p:cNvSpPr/>
          <p:nvPr/>
        </p:nvSpPr>
        <p:spPr>
          <a:xfrm>
            <a:off x="327589" y="2620780"/>
            <a:ext cx="2880000" cy="360000"/>
          </a:xfrm>
          <a:prstGeom prst="rect">
            <a:avLst/>
          </a:prstGeom>
          <a:solidFill>
            <a:schemeClr val="tx1">
              <a:alpha val="50196"/>
            </a:schemeClr>
          </a:solidFill>
          <a:ln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시점 잠금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on/off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이벤트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전달</a:t>
            </a:r>
          </a:p>
        </p:txBody>
      </p: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11347B7E-BA59-4340-9B16-EC28EB9A74AD}"/>
              </a:ext>
            </a:extLst>
          </p:cNvPr>
          <p:cNvCxnSpPr>
            <a:cxnSpLocks/>
            <a:stCxn id="14" idx="2"/>
            <a:endCxn id="84" idx="0"/>
          </p:cNvCxnSpPr>
          <p:nvPr/>
        </p:nvCxnSpPr>
        <p:spPr>
          <a:xfrm rot="16200000" flipH="1">
            <a:off x="1562319" y="2415510"/>
            <a:ext cx="237580" cy="172959"/>
          </a:xfrm>
          <a:prstGeom prst="bentConnector3">
            <a:avLst>
              <a:gd name="adj1" fmla="val 60691"/>
            </a:avLst>
          </a:prstGeom>
          <a:ln w="12700">
            <a:solidFill>
              <a:srgbClr val="FF0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DB00EF50-3AC9-439C-A715-083A678F998A}"/>
              </a:ext>
            </a:extLst>
          </p:cNvPr>
          <p:cNvSpPr txBox="1"/>
          <p:nvPr/>
        </p:nvSpPr>
        <p:spPr>
          <a:xfrm>
            <a:off x="2932796" y="2080336"/>
            <a:ext cx="1403269" cy="400110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wrap="none" rtlCol="0" anchor="b">
            <a:spAutoFit/>
          </a:bodyPr>
          <a:lstStyle/>
          <a:p>
            <a:pPr algn="r"/>
            <a:r>
              <a:rPr lang="en-US" altLang="ko-KR" sz="2000" dirty="0" err="1">
                <a:solidFill>
                  <a:schemeClr val="bg2"/>
                </a:solidFill>
                <a:latin typeface="프리젠테이션 3 Light" pitchFamily="2" charset="-127"/>
                <a:ea typeface="프리젠테이션 3 Light" pitchFamily="2" charset="-127"/>
              </a:rPr>
              <a:t>PlayerInput</a:t>
            </a:r>
            <a:endParaRPr lang="ko-KR" altLang="en-US" sz="2000" dirty="0">
              <a:solidFill>
                <a:schemeClr val="bg2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CC4AC53-8E2D-46FE-A8AA-498F2E896AD3}"/>
              </a:ext>
            </a:extLst>
          </p:cNvPr>
          <p:cNvSpPr txBox="1"/>
          <p:nvPr/>
        </p:nvSpPr>
        <p:spPr>
          <a:xfrm>
            <a:off x="8161949" y="5943093"/>
            <a:ext cx="1803700" cy="400110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wrap="none" rtlCol="0" anchor="b">
            <a:spAutoFit/>
          </a:bodyPr>
          <a:lstStyle/>
          <a:p>
            <a:pPr algn="r"/>
            <a:r>
              <a:rPr lang="en-US" altLang="ko-KR" sz="2000" dirty="0" err="1">
                <a:solidFill>
                  <a:schemeClr val="bg2"/>
                </a:solidFill>
                <a:latin typeface="프리젠테이션 3 Light" pitchFamily="2" charset="-127"/>
                <a:ea typeface="프리젠테이션 3 Light" pitchFamily="2" charset="-127"/>
              </a:rPr>
              <a:t>GameManager</a:t>
            </a:r>
            <a:endParaRPr lang="ko-KR" altLang="en-US" sz="2000" dirty="0">
              <a:solidFill>
                <a:schemeClr val="bg2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5446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B14E0-2710-49E3-9C19-331C0F87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Step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0D2461-2A1B-4F5B-889A-BC0A45C81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NPC </a:t>
            </a:r>
            <a:r>
              <a:rPr lang="ko-KR" altLang="en-US" dirty="0"/>
              <a:t>리소스 추가 및 배치 </a:t>
            </a:r>
            <a:r>
              <a:rPr lang="en-US" altLang="ko-KR" dirty="0"/>
              <a:t>– NPC </a:t>
            </a:r>
            <a:r>
              <a:rPr lang="ko-KR" altLang="en-US" dirty="0"/>
              <a:t>모델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4C06E08-383C-402A-850B-00FC88CC3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98" y="2038156"/>
            <a:ext cx="2734057" cy="27816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CC20D5E-E264-4DD9-BA23-D85D186EB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364" y="2090550"/>
            <a:ext cx="2629267" cy="267689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97A9E45-1964-41A8-A1F2-E388C7C823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1940" y="2038156"/>
            <a:ext cx="2581635" cy="279121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9C37C80-92F5-4215-9476-72EBE82FDB9B}"/>
              </a:ext>
            </a:extLst>
          </p:cNvPr>
          <p:cNvSpPr txBox="1"/>
          <p:nvPr/>
        </p:nvSpPr>
        <p:spPr>
          <a:xfrm>
            <a:off x="583972" y="4829371"/>
            <a:ext cx="22381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1 NPC -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소녀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0E9D7C-39F3-4EA1-967A-555FD264F1A5}"/>
              </a:ext>
            </a:extLst>
          </p:cNvPr>
          <p:cNvSpPr txBox="1"/>
          <p:nvPr/>
        </p:nvSpPr>
        <p:spPr>
          <a:xfrm>
            <a:off x="4976941" y="4829371"/>
            <a:ext cx="22381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2 NPC -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화가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771A05-70D8-4313-8492-6E040492D376}"/>
              </a:ext>
            </a:extLst>
          </p:cNvPr>
          <p:cNvSpPr txBox="1"/>
          <p:nvPr/>
        </p:nvSpPr>
        <p:spPr>
          <a:xfrm>
            <a:off x="9198321" y="4829371"/>
            <a:ext cx="2428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3 NPC -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음악가</a:t>
            </a:r>
          </a:p>
        </p:txBody>
      </p:sp>
    </p:spTree>
    <p:extLst>
      <p:ext uri="{BB962C8B-B14F-4D97-AF65-F5344CB8AC3E}">
        <p14:creationId xmlns:p14="http://schemas.microsoft.com/office/powerpoint/2010/main" val="1647703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7F9D685-7B40-4F47-A425-4043D13EB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999" y="1983461"/>
            <a:ext cx="5760000" cy="323307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DCB14E0-2710-49E3-9C19-331C0F87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Step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0D2461-2A1B-4F5B-889A-BC0A45C81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UI </a:t>
            </a:r>
            <a:r>
              <a:rPr lang="ko-KR" altLang="en-US" dirty="0" err="1"/>
              <a:t>대화창</a:t>
            </a:r>
            <a:r>
              <a:rPr lang="ko-KR" altLang="en-US" dirty="0"/>
              <a:t> 구현 및 </a:t>
            </a:r>
            <a:r>
              <a:rPr lang="en-US" altLang="ko-KR" dirty="0"/>
              <a:t>Asset </a:t>
            </a:r>
            <a:r>
              <a:rPr lang="ko-KR" altLang="en-US" dirty="0"/>
              <a:t>추가 </a:t>
            </a:r>
            <a:r>
              <a:rPr lang="en-US" altLang="ko-KR" dirty="0"/>
              <a:t>– UI Asset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2BDF11-EE65-4ED6-A960-F9D05E24C4B4}"/>
              </a:ext>
            </a:extLst>
          </p:cNvPr>
          <p:cNvSpPr txBox="1"/>
          <p:nvPr/>
        </p:nvSpPr>
        <p:spPr>
          <a:xfrm>
            <a:off x="3215999" y="5358159"/>
            <a:ext cx="576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음량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설정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되돌리기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/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음소거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기능 추가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세부 음량 이름 추가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+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전체 음량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,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감도 값 색상 변경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7B41835-08FD-40EB-B0F3-77F823888E69}"/>
              </a:ext>
            </a:extLst>
          </p:cNvPr>
          <p:cNvSpPr/>
          <p:nvPr/>
        </p:nvSpPr>
        <p:spPr>
          <a:xfrm>
            <a:off x="4423900" y="3229791"/>
            <a:ext cx="535577" cy="171890"/>
          </a:xfrm>
          <a:prstGeom prst="rect">
            <a:avLst/>
          </a:prstGeom>
          <a:noFill/>
          <a:ln w="127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8452EA8-F447-4182-99D9-58514FDCDFB8}"/>
              </a:ext>
            </a:extLst>
          </p:cNvPr>
          <p:cNvSpPr/>
          <p:nvPr/>
        </p:nvSpPr>
        <p:spPr>
          <a:xfrm>
            <a:off x="4423900" y="3500656"/>
            <a:ext cx="535577" cy="171890"/>
          </a:xfrm>
          <a:prstGeom prst="rect">
            <a:avLst/>
          </a:prstGeom>
          <a:noFill/>
          <a:ln w="127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03055EC-86D9-4BCF-9E66-4C6A911CA97B}"/>
              </a:ext>
            </a:extLst>
          </p:cNvPr>
          <p:cNvSpPr/>
          <p:nvPr/>
        </p:nvSpPr>
        <p:spPr>
          <a:xfrm>
            <a:off x="6188529" y="3229791"/>
            <a:ext cx="535577" cy="171890"/>
          </a:xfrm>
          <a:prstGeom prst="rect">
            <a:avLst/>
          </a:prstGeom>
          <a:noFill/>
          <a:ln w="127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973BE9C-ECFE-4A9B-BF45-21F028236BC0}"/>
              </a:ext>
            </a:extLst>
          </p:cNvPr>
          <p:cNvSpPr/>
          <p:nvPr/>
        </p:nvSpPr>
        <p:spPr>
          <a:xfrm>
            <a:off x="6188529" y="3500656"/>
            <a:ext cx="535577" cy="171890"/>
          </a:xfrm>
          <a:prstGeom prst="rect">
            <a:avLst/>
          </a:prstGeom>
          <a:noFill/>
          <a:ln w="127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91F5E46-BA4A-47F5-8709-5D962BCBC4E7}"/>
              </a:ext>
            </a:extLst>
          </p:cNvPr>
          <p:cNvSpPr/>
          <p:nvPr/>
        </p:nvSpPr>
        <p:spPr>
          <a:xfrm>
            <a:off x="4453021" y="2805811"/>
            <a:ext cx="357771" cy="369682"/>
          </a:xfrm>
          <a:prstGeom prst="rect">
            <a:avLst/>
          </a:prstGeom>
          <a:noFill/>
          <a:ln w="127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29B3E7D-062F-4CD9-9E6D-8CF46FA1F055}"/>
              </a:ext>
            </a:extLst>
          </p:cNvPr>
          <p:cNvSpPr/>
          <p:nvPr/>
        </p:nvSpPr>
        <p:spPr>
          <a:xfrm>
            <a:off x="972363" y="3135736"/>
            <a:ext cx="2880000" cy="360000"/>
          </a:xfrm>
          <a:prstGeom prst="rect">
            <a:avLst/>
          </a:prstGeom>
          <a:solidFill>
            <a:schemeClr val="tx1">
              <a:alpha val="50196"/>
            </a:schemeClr>
          </a:solidFill>
          <a:ln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타이틀 아이콘을 터치해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음소거</a:t>
            </a:r>
            <a:endParaRPr lang="ko-KR" altLang="en-US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1270CDAB-4B8F-4C91-8223-4A5320FBE654}"/>
              </a:ext>
            </a:extLst>
          </p:cNvPr>
          <p:cNvCxnSpPr>
            <a:cxnSpLocks/>
            <a:stCxn id="18" idx="1"/>
            <a:endCxn id="19" idx="3"/>
          </p:cNvCxnSpPr>
          <p:nvPr/>
        </p:nvCxnSpPr>
        <p:spPr>
          <a:xfrm rot="10800000" flipV="1">
            <a:off x="3852363" y="2990652"/>
            <a:ext cx="600658" cy="325084"/>
          </a:xfrm>
          <a:prstGeom prst="bentConnector3">
            <a:avLst>
              <a:gd name="adj1" fmla="val 52819"/>
            </a:avLst>
          </a:prstGeom>
          <a:ln w="12700">
            <a:solidFill>
              <a:srgbClr val="FF0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F9E04EAC-0D47-4763-9FB6-A7730D46BF96}"/>
              </a:ext>
            </a:extLst>
          </p:cNvPr>
          <p:cNvCxnSpPr>
            <a:cxnSpLocks/>
            <a:stCxn id="13" idx="1"/>
            <a:endCxn id="19" idx="3"/>
          </p:cNvCxnSpPr>
          <p:nvPr/>
        </p:nvCxnSpPr>
        <p:spPr>
          <a:xfrm rot="10800000">
            <a:off x="3852364" y="3315736"/>
            <a:ext cx="571537" cy="12700"/>
          </a:xfrm>
          <a:prstGeom prst="bentConnector3">
            <a:avLst>
              <a:gd name="adj1" fmla="val 50000"/>
            </a:avLst>
          </a:prstGeom>
          <a:ln w="12700">
            <a:solidFill>
              <a:srgbClr val="FF0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AAB5242-3380-4E7D-B60A-DCDAE71DB0AF}"/>
              </a:ext>
            </a:extLst>
          </p:cNvPr>
          <p:cNvSpPr/>
          <p:nvPr/>
        </p:nvSpPr>
        <p:spPr>
          <a:xfrm>
            <a:off x="7540649" y="2824611"/>
            <a:ext cx="357771" cy="305945"/>
          </a:xfrm>
          <a:prstGeom prst="rect">
            <a:avLst/>
          </a:prstGeom>
          <a:noFill/>
          <a:ln w="12700">
            <a:solidFill>
              <a:srgbClr val="008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C840080-F26D-4CB5-A7C3-90F21101B543}"/>
              </a:ext>
            </a:extLst>
          </p:cNvPr>
          <p:cNvSpPr/>
          <p:nvPr/>
        </p:nvSpPr>
        <p:spPr>
          <a:xfrm>
            <a:off x="972363" y="2458926"/>
            <a:ext cx="2880000" cy="360000"/>
          </a:xfrm>
          <a:prstGeom prst="rect">
            <a:avLst/>
          </a:prstGeom>
          <a:solidFill>
            <a:schemeClr val="tx1">
              <a:alpha val="50196"/>
            </a:schemeClr>
          </a:solidFill>
          <a:ln>
            <a:solidFill>
              <a:srgbClr val="008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터치하여 기본값으로 되돌리기</a:t>
            </a:r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98CE6E93-3D60-4DBE-9829-6F0FB4DB03E6}"/>
              </a:ext>
            </a:extLst>
          </p:cNvPr>
          <p:cNvCxnSpPr>
            <a:cxnSpLocks/>
            <a:stCxn id="27" idx="0"/>
            <a:endCxn id="28" idx="3"/>
          </p:cNvCxnSpPr>
          <p:nvPr/>
        </p:nvCxnSpPr>
        <p:spPr>
          <a:xfrm rot="16200000" flipV="1">
            <a:off x="5693107" y="798183"/>
            <a:ext cx="185685" cy="3867172"/>
          </a:xfrm>
          <a:prstGeom prst="bentConnector2">
            <a:avLst/>
          </a:prstGeom>
          <a:ln w="12700">
            <a:solidFill>
              <a:srgbClr val="008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2CDE8D5-E38A-410A-BE2A-7E795EF36D0D}"/>
              </a:ext>
            </a:extLst>
          </p:cNvPr>
          <p:cNvSpPr txBox="1"/>
          <p:nvPr/>
        </p:nvSpPr>
        <p:spPr>
          <a:xfrm>
            <a:off x="8976000" y="1983461"/>
            <a:ext cx="3215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effectLst/>
                <a:latin typeface="프리젠테이션 3 Light" pitchFamily="2" charset="-127"/>
                <a:ea typeface="프리젠테이션 3 Light" pitchFamily="2" charset="-127"/>
                <a:cs typeface="맑은 고딕" panose="020B0503020000020004" pitchFamily="34" charset="-127"/>
              </a:rPr>
              <a:t>설정 화면의 각 설정들이 어떤 항목인지 알기 어렵고 볼륨 수치에 대한 텍스트가 </a:t>
            </a:r>
            <a:r>
              <a:rPr lang="ko-KR" altLang="en-US" dirty="0" err="1">
                <a:effectLst/>
                <a:latin typeface="프리젠테이션 3 Light" pitchFamily="2" charset="-127"/>
                <a:ea typeface="프리젠테이션 3 Light" pitchFamily="2" charset="-127"/>
                <a:cs typeface="맑은 고딕" panose="020B0503020000020004" pitchFamily="34" charset="-127"/>
              </a:rPr>
              <a:t>검은색이여서</a:t>
            </a:r>
            <a:r>
              <a:rPr lang="ko-KR" altLang="en-US" dirty="0">
                <a:effectLst/>
                <a:latin typeface="프리젠테이션 3 Light" pitchFamily="2" charset="-127"/>
                <a:ea typeface="프리젠테이션 3 Light" pitchFamily="2" charset="-127"/>
                <a:cs typeface="맑은 고딕" panose="020B0503020000020004" pitchFamily="34" charset="-127"/>
              </a:rPr>
              <a:t> 잘 보이지 않았음</a:t>
            </a:r>
          </a:p>
        </p:txBody>
      </p:sp>
    </p:spTree>
    <p:extLst>
      <p:ext uri="{BB962C8B-B14F-4D97-AF65-F5344CB8AC3E}">
        <p14:creationId xmlns:p14="http://schemas.microsoft.com/office/powerpoint/2010/main" val="119319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E45A6A4-DE19-4C33-A87A-6DF71DB9AC9C}"/>
              </a:ext>
            </a:extLst>
          </p:cNvPr>
          <p:cNvSpPr/>
          <p:nvPr/>
        </p:nvSpPr>
        <p:spPr>
          <a:xfrm>
            <a:off x="6453208" y="2142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94EA8892-F16F-4CD3-947C-F3DFD9542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555" y="2509349"/>
            <a:ext cx="2092632" cy="216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D12038A-972B-41C7-824D-A880D07E7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Trouble Shooting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6DFA8B-082B-4A71-A9C5-6408A7EFB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 상황</a:t>
            </a:r>
            <a:r>
              <a:rPr lang="en-US" altLang="ko-KR" dirty="0"/>
              <a:t>: </a:t>
            </a:r>
            <a:r>
              <a:rPr lang="ko-KR" altLang="en-US" dirty="0"/>
              <a:t>에피소드 </a:t>
            </a:r>
            <a:r>
              <a:rPr lang="en-US" altLang="ko-KR" dirty="0"/>
              <a:t>2</a:t>
            </a:r>
            <a:r>
              <a:rPr lang="ko-KR" altLang="en-US" dirty="0"/>
              <a:t>의 양쪽 퍼즐을 완료하고 에피소드 </a:t>
            </a:r>
            <a:r>
              <a:rPr lang="en-US" altLang="ko-KR" dirty="0"/>
              <a:t>2</a:t>
            </a:r>
            <a:r>
              <a:rPr lang="ko-KR" altLang="en-US" dirty="0"/>
              <a:t>의</a:t>
            </a:r>
            <a:r>
              <a:rPr lang="en-US" altLang="ko-KR" dirty="0"/>
              <a:t>  </a:t>
            </a:r>
            <a:r>
              <a:rPr lang="ko-KR" altLang="en-US" dirty="0"/>
              <a:t>로비 신으로 이동하여 </a:t>
            </a:r>
            <a:r>
              <a:rPr lang="ko-KR" altLang="en-US" dirty="0" err="1"/>
              <a:t>컷신</a:t>
            </a:r>
            <a:r>
              <a:rPr lang="ko-KR" altLang="en-US" dirty="0"/>
              <a:t> 재생 시 마우스 커서 잠금 </a:t>
            </a:r>
            <a:r>
              <a:rPr lang="en-US" altLang="ko-KR" dirty="0"/>
              <a:t>UI</a:t>
            </a:r>
            <a:r>
              <a:rPr lang="ko-KR" altLang="en-US" dirty="0"/>
              <a:t>가 중간에 활성화되는 현상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2CE8F23-8ADC-4092-8829-670FC7D28CF6}"/>
              </a:ext>
            </a:extLst>
          </p:cNvPr>
          <p:cNvSpPr/>
          <p:nvPr/>
        </p:nvSpPr>
        <p:spPr>
          <a:xfrm>
            <a:off x="329656" y="2142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9F899087-356A-42B3-9265-2500673A52ED}"/>
              </a:ext>
            </a:extLst>
          </p:cNvPr>
          <p:cNvSpPr/>
          <p:nvPr/>
        </p:nvSpPr>
        <p:spPr>
          <a:xfrm>
            <a:off x="5916000" y="3582000"/>
            <a:ext cx="360000" cy="360000"/>
          </a:xfrm>
          <a:prstGeom prst="rightArrow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708819-E368-45C2-B79C-9460D72988F3}"/>
              </a:ext>
            </a:extLst>
          </p:cNvPr>
          <p:cNvSpPr txBox="1"/>
          <p:nvPr/>
        </p:nvSpPr>
        <p:spPr>
          <a:xfrm>
            <a:off x="335997" y="5440565"/>
            <a:ext cx="46121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원인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텍스트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컷신과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이미지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컷신이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동시에 시작된 뒤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텍스트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출력 중 이미지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컷신이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종료되어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CutsceneMode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가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해제되면서 잠금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켜짐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446C2A-6FEA-45AD-9C19-72B244B75E36}"/>
              </a:ext>
            </a:extLst>
          </p:cNvPr>
          <p:cNvSpPr txBox="1"/>
          <p:nvPr/>
        </p:nvSpPr>
        <p:spPr>
          <a:xfrm>
            <a:off x="6671998" y="5440565"/>
            <a:ext cx="52139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해결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이미지 컷신에서 </a:t>
            </a:r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CutsceneMode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해제하지 않는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조건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bool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변수를 추가하여 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2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로비 복귀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컷신에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양쪽 퍼즐 클리어 조건을 입력해 </a:t>
            </a:r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CutsceneMode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유지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C914631-7134-4920-88A4-C9C7F5611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92" y="2916774"/>
            <a:ext cx="2593470" cy="136645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3CE17DC-628E-4D68-941C-4A8AA7565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8346" y="3562077"/>
            <a:ext cx="1760000" cy="1440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B430456-82BC-48F8-97E5-C52FFEDB8F78}"/>
              </a:ext>
            </a:extLst>
          </p:cNvPr>
          <p:cNvSpPr/>
          <p:nvPr/>
        </p:nvSpPr>
        <p:spPr>
          <a:xfrm>
            <a:off x="635794" y="4055533"/>
            <a:ext cx="2345268" cy="227693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722496-D3EC-4A88-86EE-D3D2EC0D8171}"/>
              </a:ext>
            </a:extLst>
          </p:cNvPr>
          <p:cNvSpPr txBox="1"/>
          <p:nvPr/>
        </p:nvSpPr>
        <p:spPr>
          <a:xfrm>
            <a:off x="502323" y="4283226"/>
            <a:ext cx="25090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 시점에서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(2~6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초 구간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)</a:t>
            </a: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이미지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재생이 끝남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F38456-E0F8-4CF2-86FF-1210ED09F69D}"/>
              </a:ext>
            </a:extLst>
          </p:cNvPr>
          <p:cNvSpPr txBox="1"/>
          <p:nvPr/>
        </p:nvSpPr>
        <p:spPr>
          <a:xfrm>
            <a:off x="3190323" y="4976168"/>
            <a:ext cx="24160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이미지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컷신은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3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초 간 재생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A0D928F-2944-4344-947E-A2D7102561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9237" y="3060000"/>
            <a:ext cx="2793993" cy="108000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E2C6E3C5-E8C6-4BBE-85CE-F5E287DA846A}"/>
              </a:ext>
            </a:extLst>
          </p:cNvPr>
          <p:cNvSpPr/>
          <p:nvPr/>
        </p:nvSpPr>
        <p:spPr>
          <a:xfrm>
            <a:off x="7565641" y="2497476"/>
            <a:ext cx="896927" cy="97419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1A33A7-DB5F-48F9-85AC-683174572B35}"/>
              </a:ext>
            </a:extLst>
          </p:cNvPr>
          <p:cNvSpPr txBox="1"/>
          <p:nvPr/>
        </p:nvSpPr>
        <p:spPr>
          <a:xfrm>
            <a:off x="6901459" y="2083225"/>
            <a:ext cx="22252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지정한 조건이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true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05441D2-20B2-4AAE-9C65-9DF50FC94287}"/>
              </a:ext>
            </a:extLst>
          </p:cNvPr>
          <p:cNvSpPr/>
          <p:nvPr/>
        </p:nvSpPr>
        <p:spPr>
          <a:xfrm>
            <a:off x="6799555" y="4360523"/>
            <a:ext cx="1604771" cy="129938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60AEFA-2803-4F0C-8869-674510F8B300}"/>
              </a:ext>
            </a:extLst>
          </p:cNvPr>
          <p:cNvSpPr txBox="1"/>
          <p:nvPr/>
        </p:nvSpPr>
        <p:spPr>
          <a:xfrm>
            <a:off x="6709554" y="4589416"/>
            <a:ext cx="2682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CutsceneMode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true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71F0579-F7F0-42ED-B5F3-539251BBD18E}"/>
              </a:ext>
            </a:extLst>
          </p:cNvPr>
          <p:cNvSpPr/>
          <p:nvPr/>
        </p:nvSpPr>
        <p:spPr>
          <a:xfrm>
            <a:off x="10404049" y="3454813"/>
            <a:ext cx="1359181" cy="129938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F2898CE-174B-44F1-AC31-CD343D9C857B}"/>
              </a:ext>
            </a:extLst>
          </p:cNvPr>
          <p:cNvSpPr/>
          <p:nvPr/>
        </p:nvSpPr>
        <p:spPr>
          <a:xfrm>
            <a:off x="10404049" y="3862316"/>
            <a:ext cx="1359181" cy="129938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6ED804-A42A-46E7-B890-1F097124A8A0}"/>
              </a:ext>
            </a:extLst>
          </p:cNvPr>
          <p:cNvSpPr txBox="1"/>
          <p:nvPr/>
        </p:nvSpPr>
        <p:spPr>
          <a:xfrm>
            <a:off x="9815055" y="4086704"/>
            <a:ext cx="2040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퍼즐 클리어 조건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	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전달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C55419FD-3DE5-41CE-ABC7-DFB7A14377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3201" y="2126556"/>
            <a:ext cx="2330291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671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E45A6A4-DE19-4C33-A87A-6DF71DB9AC9C}"/>
              </a:ext>
            </a:extLst>
          </p:cNvPr>
          <p:cNvSpPr/>
          <p:nvPr/>
        </p:nvSpPr>
        <p:spPr>
          <a:xfrm>
            <a:off x="6453208" y="2142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D12038A-972B-41C7-824D-A880D07E7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Trouble Shooting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6DFA8B-082B-4A71-A9C5-6408A7EFB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 상황</a:t>
            </a:r>
            <a:r>
              <a:rPr lang="en-US" altLang="ko-KR" dirty="0"/>
              <a:t>: </a:t>
            </a:r>
            <a:r>
              <a:rPr lang="ko-KR" altLang="en-US" dirty="0"/>
              <a:t>플레이어가 에피소드 </a:t>
            </a:r>
            <a:r>
              <a:rPr lang="en-US" altLang="ko-KR" dirty="0"/>
              <a:t>3</a:t>
            </a:r>
            <a:r>
              <a:rPr lang="ko-KR" altLang="en-US" dirty="0"/>
              <a:t>의 오브젝트를 통과하여 바깥 공간으로 떨어지는 현상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2CE8F23-8ADC-4092-8829-670FC7D28CF6}"/>
              </a:ext>
            </a:extLst>
          </p:cNvPr>
          <p:cNvSpPr/>
          <p:nvPr/>
        </p:nvSpPr>
        <p:spPr>
          <a:xfrm>
            <a:off x="329656" y="2142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9F899087-356A-42B3-9265-2500673A52ED}"/>
              </a:ext>
            </a:extLst>
          </p:cNvPr>
          <p:cNvSpPr/>
          <p:nvPr/>
        </p:nvSpPr>
        <p:spPr>
          <a:xfrm>
            <a:off x="5916000" y="3582000"/>
            <a:ext cx="360000" cy="360000"/>
          </a:xfrm>
          <a:prstGeom prst="rightArrow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708819-E368-45C2-B79C-9460D72988F3}"/>
              </a:ext>
            </a:extLst>
          </p:cNvPr>
          <p:cNvSpPr txBox="1"/>
          <p:nvPr/>
        </p:nvSpPr>
        <p:spPr>
          <a:xfrm>
            <a:off x="335997" y="5440565"/>
            <a:ext cx="4381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원인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배경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오브젝트에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Collider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가 설정되지 않음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446C2A-6FEA-45AD-9C19-72B244B75E36}"/>
              </a:ext>
            </a:extLst>
          </p:cNvPr>
          <p:cNvSpPr txBox="1"/>
          <p:nvPr/>
        </p:nvSpPr>
        <p:spPr>
          <a:xfrm>
            <a:off x="6671998" y="5440565"/>
            <a:ext cx="45961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해결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3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로비 및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3-1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신의 배경 오브젝트에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Collider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설정하여 배치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CD619BD-B316-4EBF-9246-E166F6D3C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102" y="2527695"/>
            <a:ext cx="2520000" cy="246435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DA28DBD2-0957-4828-87BD-1E83058186B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111178" y="2491243"/>
            <a:ext cx="3824693" cy="254151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A12F5B-B4A5-4D72-9653-61CDE69BB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1310" y="2361699"/>
            <a:ext cx="2520000" cy="279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778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D42C05-65DA-458A-A941-A421A13F6537}"/>
              </a:ext>
            </a:extLst>
          </p:cNvPr>
          <p:cNvSpPr txBox="1"/>
          <p:nvPr/>
        </p:nvSpPr>
        <p:spPr>
          <a:xfrm>
            <a:off x="336000" y="2529000"/>
            <a:ext cx="11520000" cy="180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5">
                    <a:lumMod val="20000"/>
                    <a:lumOff val="80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THANK YOU</a:t>
            </a:r>
            <a:endParaRPr lang="ko-KR" altLang="en-US" sz="4000" dirty="0">
              <a:solidFill>
                <a:schemeClr val="accent5">
                  <a:lumMod val="20000"/>
                  <a:lumOff val="80000"/>
                </a:schemeClr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9129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837</TotalTime>
  <Words>620</Words>
  <Application>Microsoft Office PowerPoint</Application>
  <PresentationFormat>와이드스크린</PresentationFormat>
  <Paragraphs>180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프리젠테이션 3 Light</vt:lpstr>
      <vt:lpstr>프리젠테이션 4 Regular</vt:lpstr>
      <vt:lpstr>Arial</vt:lpstr>
      <vt:lpstr>Office 테마</vt:lpstr>
      <vt:lpstr>PowerPoint 프레젠테이션</vt:lpstr>
      <vt:lpstr>Contents</vt:lpstr>
      <vt:lpstr>Team Profile</vt:lpstr>
      <vt:lpstr>Game Design</vt:lpstr>
      <vt:lpstr>Project Schedule</vt:lpstr>
      <vt:lpstr>Project Step</vt:lpstr>
      <vt:lpstr>Project Step</vt:lpstr>
      <vt:lpstr>Project Step</vt:lpstr>
      <vt:lpstr>Project Step</vt:lpstr>
      <vt:lpstr>Project Step</vt:lpstr>
      <vt:lpstr>Trouble Shooting</vt:lpstr>
      <vt:lpstr>Trouble Shooting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성혁 우</dc:creator>
  <cp:lastModifiedBy>성혁 우</cp:lastModifiedBy>
  <cp:revision>53</cp:revision>
  <dcterms:created xsi:type="dcterms:W3CDTF">2026-04-24T01:01:00Z</dcterms:created>
  <dcterms:modified xsi:type="dcterms:W3CDTF">2026-04-28T04:27:30Z</dcterms:modified>
</cp:coreProperties>
</file>