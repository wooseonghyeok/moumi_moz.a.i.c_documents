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58" r:id="rId5"/>
    <p:sldId id="259" r:id="rId6"/>
    <p:sldId id="264" r:id="rId7"/>
    <p:sldId id="268" r:id="rId8"/>
    <p:sldId id="269" r:id="rId9"/>
    <p:sldId id="266" r:id="rId10"/>
    <p:sldId id="267" r:id="rId11"/>
    <p:sldId id="265" r:id="rId12"/>
    <p:sldId id="260" r:id="rId13"/>
    <p:sldId id="261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80"/>
    <a:srgbClr val="400080"/>
    <a:srgbClr val="202080"/>
    <a:srgbClr val="4040FF"/>
    <a:srgbClr val="8000FF"/>
    <a:srgbClr val="600060"/>
    <a:srgbClr val="C000C0"/>
    <a:srgbClr val="800040"/>
    <a:srgbClr val="C8C0FF"/>
    <a:srgbClr val="F3F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B4BFCE-1776-498C-A942-046C1A258924}" v="1" dt="2026-04-28T05:29:57.7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7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F009DA-1F53-46CC-96CA-033D24F335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6000" y="2529000"/>
            <a:ext cx="11520000" cy="1800000"/>
          </a:xfrm>
        </p:spPr>
        <p:txBody>
          <a:bodyPr anchor="ctr">
            <a:normAutofit/>
          </a:bodyPr>
          <a:lstStyle>
            <a:lvl1pPr algn="ctr">
              <a:defRPr sz="4000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83D3638-DFBA-4D12-A7E0-1C24BD1776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6000" y="4622800"/>
            <a:ext cx="9000000" cy="720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1AF31D-E393-443D-8CFC-EB434120C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0F1836DF-CC63-4F54-A329-B71AFD69A70B}" type="datetimeFigureOut">
              <a:rPr lang="ko-KR" altLang="en-US" smtClean="0"/>
              <a:pPr/>
              <a:t>2026-04-28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3CAB13-895F-424E-90C5-3B4AEAB17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D27F39-AD97-4AF7-9991-4E1E9E2E1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3785469-5BE1-426E-8B20-126D0B7ED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337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4E62EA-2E73-4E31-B51B-716C227D4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7A8715-7C23-4E02-B3CE-AA14CA8A6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11BF52-940E-4BE5-AD78-297D3F2E8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836DF-CC63-4F54-A329-B71AFD69A70B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C03708-2C8D-4E9D-830D-D252AF693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781725-5E8B-4DDB-9E68-00A455943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5469-5BE1-426E-8B20-126D0B7ED6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6690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BB8D9E-06B0-46EC-AC35-A6345CA9D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000" y="2529000"/>
            <a:ext cx="11520000" cy="18000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ko-KR" altLang="en-US"/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A5815E-3B5C-42DC-9B28-599DFB0149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96000" y="4625237"/>
            <a:ext cx="9000000" cy="720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ko-KR" altLang="en-US" sz="2000"/>
            </a:lvl1pPr>
          </a:lstStyle>
          <a:p>
            <a:pPr lvl="0" algn="ctr"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A734EE-DCD0-4FDC-9FC2-42BE08ACA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836DF-CC63-4F54-A329-B71AFD69A70B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B71375-B8E0-43E3-8D8E-4263090C4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C5648D-FE7B-4A75-8CD1-4E18A73F0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5469-5BE1-426E-8B20-126D0B7ED6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2428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F056DF-B84F-499D-BC69-E5F38AC85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EAF30-0CCF-4B7A-A132-AF09FCF29A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999" y="1269000"/>
            <a:ext cx="5400000" cy="4860000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0576663-6379-46B6-ABBC-81A0B137E4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55998" y="1268999"/>
            <a:ext cx="5400000" cy="4860000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F4A831C-067D-42EB-ADB0-7080A6188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836DF-CC63-4F54-A329-B71AFD69A70B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273B2C-5825-41DF-8C8D-EC567883B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39FDA9-CCBF-4F7A-A08E-D706DC193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5469-5BE1-426E-8B20-126D0B7ED6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5808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3861B2-2E8C-477E-B36C-B5E6A67D5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000" y="136526"/>
            <a:ext cx="11520000" cy="9000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ko-KR" altLang="en-US"/>
            </a:lvl1pPr>
          </a:lstStyle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876D03-917B-4A29-80B8-CF6204D49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998" y="1269207"/>
            <a:ext cx="5400000" cy="9000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6904C92-DADA-4BA6-89C6-124333C3F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5998" y="2169000"/>
            <a:ext cx="5400000" cy="3960000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48FC20A-0E46-4B1D-82D9-1679DD57A3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55998" y="1269000"/>
            <a:ext cx="5400000" cy="9000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7317688-22E3-4A2B-A7DC-A013814A89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55998" y="2169000"/>
            <a:ext cx="5400000" cy="3960000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996E091-23CF-4C50-AA54-9A6B38964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836DF-CC63-4F54-A329-B71AFD69A70B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342F017-4D7A-43A1-A859-BE2D8445F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D6C1AF7-691D-4EAC-A647-E2812B3C8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5469-5BE1-426E-8B20-126D0B7ED6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7009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30A739-C60B-42DF-9A46-914318DE6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A6EC152-2D07-4701-8A37-94FE84CAA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836DF-CC63-4F54-A329-B71AFD69A70B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93EA44B-C8DE-4A4C-8FA3-71468221A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F28056D-F92A-4969-A18D-FEAA16FC9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5469-5BE1-426E-8B20-126D0B7ED6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6256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B6D5E99-635D-438A-A347-8D6BE33AA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836DF-CC63-4F54-A329-B71AFD69A70B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E2C57A8-FA43-4305-BB97-5EC1E118B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6F7AA9-1ADC-4939-BCE9-B329CE251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5469-5BE1-426E-8B20-126D0B7ED6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762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67BF79-DD3B-410A-B954-936EB1490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7E0986-D287-4BCD-AC22-C483E1DF26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D43395B-E051-4871-9C20-0E8990EC25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30E0073-88F7-44E1-8AFB-ED04B4CDA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836DF-CC63-4F54-A329-B71AFD69A70B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510F9B5-FC8C-4F2C-9345-4AB44E056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21B93B-2F16-48DA-9CB8-1A65C30B6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5469-5BE1-426E-8B20-126D0B7ED6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7809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689269-6A81-4139-9D3A-47B28F82C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D34466E-1AFB-4D99-A4F3-9373C98828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5AFBD54-47E2-45F8-BC73-F9B97370B6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CBA349C-889E-47AC-8E7E-91096BBDF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836DF-CC63-4F54-A329-B71AFD69A70B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9FB8A9-2BC7-4AF4-A40F-5721D32F5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66D96A-92BF-4706-B8D3-1E7E258F3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5469-5BE1-426E-8B20-126D0B7ED6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248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D1383B-0C8E-4783-9060-5DD5B3FB8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2422335-CBD6-4C09-B8A1-8B71EE584F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067D89-B938-41D3-8EB7-0D4F46AF3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836DF-CC63-4F54-A329-B71AFD69A70B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ED8224-CD68-40F4-BBB3-AC04052C5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A21A5F-97D9-4F70-BCF9-B28ED24A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5469-5BE1-426E-8B20-126D0B7ED6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4756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3978792-708B-46E9-9D12-477BFDBF00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D103639-01DD-4DA8-9341-025EC52D85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0A4062-697E-4581-84E7-96879849E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836DF-CC63-4F54-A329-B71AFD69A70B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F1AA99-52D9-45B9-A6F1-61C257AA9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00698D-4998-4BB8-84C1-360C5C14B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5469-5BE1-426E-8B20-126D0B7ED6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1132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 shadeToTitle="1">
        <a:gradFill flip="none" rotWithShape="1">
          <a:gsLst>
            <a:gs pos="0">
              <a:schemeClr val="bg1"/>
            </a:gs>
            <a:gs pos="99000">
              <a:srgbClr val="C8C0FF">
                <a:alpha val="50000"/>
              </a:srgbClr>
            </a:gs>
            <a:gs pos="90000">
              <a:srgbClr val="F3F0FF"/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36E0977-833E-4C4B-8134-37DF22B99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99" y="0"/>
            <a:ext cx="11520000" cy="9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6724C5-28AB-439F-9144-E0700B38F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999" y="900000"/>
            <a:ext cx="11519999" cy="540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8D570E-3193-4AF9-A07B-FA84149188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36000" y="6420742"/>
            <a:ext cx="180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50000"/>
                  </a:schemeClr>
                </a:solidFill>
                <a:latin typeface="프리젠테이션 3 Light" pitchFamily="2" charset="-127"/>
                <a:ea typeface="프리젠테이션 3 Light" pitchFamily="2" charset="-127"/>
              </a:defRPr>
            </a:lvl1pPr>
          </a:lstStyle>
          <a:p>
            <a:fld id="{0F1836DF-CC63-4F54-A329-B71AFD69A70B}" type="datetimeFigureOut">
              <a:rPr lang="ko-KR" altLang="en-US" smtClean="0"/>
              <a:pPr/>
              <a:t>2026-04-28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34C3B1-1C18-4626-8D4F-C1E8F397E7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56000" y="6420742"/>
            <a:ext cx="540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프리젠테이션 3 Light" pitchFamily="2" charset="-127"/>
                <a:ea typeface="프리젠테이션 3 Light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2D6CAA-7810-4399-8686-3A7AC5A5F5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38600" y="6420742"/>
            <a:ext cx="180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50000"/>
                  </a:schemeClr>
                </a:solidFill>
                <a:latin typeface="프리젠테이션 3 Light" pitchFamily="2" charset="-127"/>
                <a:ea typeface="프리젠테이션 3 Light" pitchFamily="2" charset="-127"/>
              </a:defRPr>
            </a:lvl1pPr>
          </a:lstStyle>
          <a:p>
            <a:fld id="{D3785469-5BE1-426E-8B20-126D0B7ED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9133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프리젠테이션 4 Regular" pitchFamily="2" charset="-127"/>
          <a:ea typeface="프리젠테이션 4 Regular" pitchFamily="2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프리젠테이션 3 Light" pitchFamily="2" charset="-127"/>
          <a:ea typeface="프리젠테이션 3 Light" pitchFamily="2" charset="-127"/>
          <a:cs typeface="+mn-cs"/>
        </a:defRPr>
      </a:lvl1pPr>
      <a:lvl2pPr marL="360000" indent="0" algn="l" defTabSz="914400" rtl="0" eaLnBrk="1" latinLnBrk="1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프리젠테이션 3 Light" pitchFamily="2" charset="-127"/>
          <a:ea typeface="프리젠테이션 3 Light" pitchFamily="2" charset="-127"/>
          <a:cs typeface="+mn-cs"/>
        </a:defRPr>
      </a:lvl2pPr>
      <a:lvl3pPr marL="720000" indent="0" algn="l" defTabSz="914400" rtl="0" eaLnBrk="1" latinLnBrk="1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프리젠테이션 3 Light" pitchFamily="2" charset="-127"/>
          <a:ea typeface="프리젠테이션 3 Light" pitchFamily="2" charset="-127"/>
          <a:cs typeface="+mn-cs"/>
        </a:defRPr>
      </a:lvl3pPr>
      <a:lvl4pPr marL="1080000" indent="0" algn="l" defTabSz="914400" rtl="0" eaLnBrk="1" latinLnBrk="1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프리젠테이션 3 Light" pitchFamily="2" charset="-127"/>
          <a:ea typeface="프리젠테이션 3 Light" pitchFamily="2" charset="-127"/>
          <a:cs typeface="+mn-cs"/>
        </a:defRPr>
      </a:lvl4pPr>
      <a:lvl5pPr marL="1440000" indent="0" algn="l" defTabSz="914400" rtl="0" eaLnBrk="1" latinLnBrk="1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프리젠테이션 3 Light" pitchFamily="2" charset="-127"/>
          <a:ea typeface="프리젠테이션 3 Light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26B18DF5-7FCD-44C5-9611-B61C8C604C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>
            <a:noAutofit/>
          </a:bodyPr>
          <a:lstStyle/>
          <a:p>
            <a:r>
              <a:rPr lang="ko-KR" altLang="en-US" dirty="0" err="1"/>
              <a:t>모으미</a:t>
            </a:r>
            <a:r>
              <a:rPr lang="en-US" altLang="ko-KR" dirty="0"/>
              <a:t> #1</a:t>
            </a:r>
            <a:r>
              <a:rPr lang="ko-KR" altLang="en-US" dirty="0"/>
              <a:t>팀</a:t>
            </a:r>
            <a:endParaRPr lang="en-US" altLang="ko-KR" dirty="0"/>
          </a:p>
          <a:p>
            <a:r>
              <a:rPr lang="ko-KR" altLang="en-US" dirty="0" err="1"/>
              <a:t>김남해</a:t>
            </a:r>
            <a:r>
              <a:rPr lang="ko-KR" altLang="en-US" dirty="0"/>
              <a:t> </a:t>
            </a:r>
            <a:r>
              <a:rPr lang="en-US" altLang="ko-KR" dirty="0"/>
              <a:t># </a:t>
            </a:r>
            <a:r>
              <a:rPr lang="ko-KR" altLang="en-US" dirty="0" err="1"/>
              <a:t>송예찬</a:t>
            </a:r>
            <a:r>
              <a:rPr lang="ko-KR" altLang="en-US" dirty="0"/>
              <a:t> </a:t>
            </a:r>
            <a:r>
              <a:rPr lang="en-US" altLang="ko-KR" dirty="0"/>
              <a:t># </a:t>
            </a:r>
            <a:r>
              <a:rPr lang="ko-KR" altLang="en-US" dirty="0"/>
              <a:t>우성혁</a:t>
            </a:r>
            <a:r>
              <a:rPr lang="en-US" altLang="ko-KR" dirty="0"/>
              <a:t> # </a:t>
            </a:r>
            <a:r>
              <a:rPr lang="ko-KR" altLang="en-US" dirty="0"/>
              <a:t>윤대식</a:t>
            </a:r>
          </a:p>
        </p:txBody>
      </p:sp>
    </p:spTree>
    <p:extLst>
      <p:ext uri="{BB962C8B-B14F-4D97-AF65-F5344CB8AC3E}">
        <p14:creationId xmlns:p14="http://schemas.microsoft.com/office/powerpoint/2010/main" val="1251254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E7A18D-EAF5-49F7-A9EB-3AE63E7DD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45A002-5DDC-4AA0-94C5-E24FE344F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Team Profile</a:t>
            </a:r>
          </a:p>
          <a:p>
            <a:r>
              <a:rPr lang="en-US" altLang="ko-KR" dirty="0"/>
              <a:t>Game Design</a:t>
            </a:r>
          </a:p>
          <a:p>
            <a:r>
              <a:rPr lang="en-US" altLang="ko-KR" dirty="0"/>
              <a:t>Project</a:t>
            </a:r>
          </a:p>
          <a:p>
            <a:pPr lvl="1"/>
            <a:r>
              <a:rPr lang="en-US" altLang="ko-KR" dirty="0"/>
              <a:t>Schedule</a:t>
            </a:r>
          </a:p>
          <a:p>
            <a:pPr lvl="1"/>
            <a:r>
              <a:rPr lang="en-US" altLang="ko-KR" dirty="0"/>
              <a:t>Contents</a:t>
            </a:r>
          </a:p>
          <a:p>
            <a:pPr lvl="1"/>
            <a:r>
              <a:rPr lang="en-US" altLang="ko-KR" dirty="0"/>
              <a:t>Trouble Shooting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5967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6234DC-534B-4D74-9DAD-1C6DC8EF38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팀 번호</a:t>
            </a:r>
            <a:r>
              <a:rPr lang="en-US" altLang="ko-KR" dirty="0"/>
              <a:t>: #1</a:t>
            </a:r>
          </a:p>
          <a:p>
            <a:r>
              <a:rPr lang="ko-KR" altLang="en-US" dirty="0"/>
              <a:t>팀</a:t>
            </a:r>
            <a:r>
              <a:rPr lang="en-US" altLang="ko-KR" dirty="0"/>
              <a:t> </a:t>
            </a:r>
            <a:r>
              <a:rPr lang="ko-KR" altLang="en-US" dirty="0"/>
              <a:t>이름</a:t>
            </a:r>
            <a:r>
              <a:rPr lang="en-US" altLang="ko-KR" dirty="0"/>
              <a:t>: </a:t>
            </a:r>
            <a:r>
              <a:rPr lang="ko-KR" altLang="en-US" dirty="0" err="1"/>
              <a:t>모으미</a:t>
            </a:r>
            <a:endParaRPr lang="en-US" altLang="ko-KR" dirty="0"/>
          </a:p>
          <a:p>
            <a:r>
              <a:rPr lang="ko-KR" altLang="en-US" dirty="0"/>
              <a:t>팀원</a:t>
            </a:r>
            <a:r>
              <a:rPr lang="en-US" altLang="ko-KR" dirty="0"/>
              <a:t> </a:t>
            </a:r>
            <a:r>
              <a:rPr lang="ko-KR" altLang="en-US" dirty="0"/>
              <a:t>소개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4BC982-A9EE-4411-88AA-A7E5F8726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Team Profile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34008E1-DD77-4EF0-8670-B05700666F4C}"/>
              </a:ext>
            </a:extLst>
          </p:cNvPr>
          <p:cNvSpPr/>
          <p:nvPr/>
        </p:nvSpPr>
        <p:spPr>
          <a:xfrm>
            <a:off x="1055999" y="2337800"/>
            <a:ext cx="2160000" cy="288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1EAB245-ADBF-4606-A298-A0C8BC312168}"/>
              </a:ext>
            </a:extLst>
          </p:cNvPr>
          <p:cNvSpPr/>
          <p:nvPr/>
        </p:nvSpPr>
        <p:spPr>
          <a:xfrm>
            <a:off x="3695999" y="2337800"/>
            <a:ext cx="2160000" cy="288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ED6655B-2603-437E-88CF-26F38694ED82}"/>
              </a:ext>
            </a:extLst>
          </p:cNvPr>
          <p:cNvSpPr/>
          <p:nvPr/>
        </p:nvSpPr>
        <p:spPr>
          <a:xfrm>
            <a:off x="6335999" y="2337800"/>
            <a:ext cx="2160000" cy="288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C8CAC5F-881C-47FD-BD91-DD31DBDCFF76}"/>
              </a:ext>
            </a:extLst>
          </p:cNvPr>
          <p:cNvSpPr/>
          <p:nvPr/>
        </p:nvSpPr>
        <p:spPr>
          <a:xfrm>
            <a:off x="8975998" y="2337800"/>
            <a:ext cx="2160000" cy="288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F84A9E-750F-4993-9685-78F6119F37F6}"/>
              </a:ext>
            </a:extLst>
          </p:cNvPr>
          <p:cNvSpPr txBox="1"/>
          <p:nvPr/>
        </p:nvSpPr>
        <p:spPr>
          <a:xfrm>
            <a:off x="1348765" y="5316057"/>
            <a:ext cx="157447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 err="1">
                <a:latin typeface="프리젠테이션 3 Light" pitchFamily="2" charset="-127"/>
                <a:ea typeface="프리젠테이션 3 Light" pitchFamily="2" charset="-127"/>
              </a:rPr>
              <a:t>김남해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에피소드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1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담당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pPr algn="ctr"/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NPC AI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구성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CFC21E-EBE8-4EC2-B3EC-0733DCBBBDCE}"/>
              </a:ext>
            </a:extLst>
          </p:cNvPr>
          <p:cNvSpPr txBox="1"/>
          <p:nvPr/>
        </p:nvSpPr>
        <p:spPr>
          <a:xfrm>
            <a:off x="3975139" y="5316057"/>
            <a:ext cx="160172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윤대식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에피소드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2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담당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pPr algn="ctr"/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UI /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이미지 제작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34E50E-67FD-4054-B668-41BC8A672065}"/>
              </a:ext>
            </a:extLst>
          </p:cNvPr>
          <p:cNvSpPr txBox="1"/>
          <p:nvPr/>
        </p:nvSpPr>
        <p:spPr>
          <a:xfrm>
            <a:off x="6538196" y="5316057"/>
            <a:ext cx="175561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 err="1">
                <a:latin typeface="프리젠테이션 3 Light" pitchFamily="2" charset="-127"/>
                <a:ea typeface="프리젠테이션 3 Light" pitchFamily="2" charset="-127"/>
              </a:rPr>
              <a:t>송예찬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에피소드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3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담당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사운드 제작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/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관리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26FA9E-AC65-45DA-B2A3-2D6D378F6629}"/>
              </a:ext>
            </a:extLst>
          </p:cNvPr>
          <p:cNvSpPr txBox="1"/>
          <p:nvPr/>
        </p:nvSpPr>
        <p:spPr>
          <a:xfrm>
            <a:off x="9082817" y="5316057"/>
            <a:ext cx="194636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우성혁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에피소드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4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담당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프로젝트 기획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 /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관리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A2A9FBB7-ED67-4128-8EDA-94F312016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998" y="2385800"/>
            <a:ext cx="2088000" cy="27840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4E8E459-4DF4-4117-A761-EE5C51AB13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002" y="2383155"/>
            <a:ext cx="2088000" cy="278928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688230D-4CCA-44C2-AB0F-5B702CFEE8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1999" y="2385800"/>
            <a:ext cx="2088000" cy="278400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177727C4-A9D5-40EE-ABE1-EAE11A16AC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1999" y="2381020"/>
            <a:ext cx="2088000" cy="2793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814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C86FFD-8AC2-4663-A28B-813F4496B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Game Design</a:t>
            </a:r>
            <a:endParaRPr lang="ko-KR" altLang="en-US" dirty="0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E329C68C-5CC5-4E57-9603-2F9592CE1B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8696084"/>
              </p:ext>
            </p:extLst>
          </p:nvPr>
        </p:nvGraphicFramePr>
        <p:xfrm>
          <a:off x="335999" y="900000"/>
          <a:ext cx="11520000" cy="4602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3778503380"/>
                    </a:ext>
                  </a:extLst>
                </a:gridCol>
                <a:gridCol w="3960000">
                  <a:extLst>
                    <a:ext uri="{9D8B030D-6E8A-4147-A177-3AD203B41FA5}">
                      <a16:colId xmlns:a16="http://schemas.microsoft.com/office/drawing/2014/main" val="1241492918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1696707209"/>
                    </a:ext>
                  </a:extLst>
                </a:gridCol>
                <a:gridCol w="3960000">
                  <a:extLst>
                    <a:ext uri="{9D8B030D-6E8A-4147-A177-3AD203B41FA5}">
                      <a16:colId xmlns:a16="http://schemas.microsoft.com/office/drawing/2014/main" val="3428443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프로젝트명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moz.A.I.c</a:t>
                      </a:r>
                      <a:endParaRPr lang="ko-KR" altLang="en-US" sz="2000" dirty="0">
                        <a:solidFill>
                          <a:schemeClr val="tx1"/>
                        </a:solidFill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2000" kern="12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  <a:cs typeface="+mn-cs"/>
                        </a:rPr>
                        <a:t>개발 </a:t>
                      </a:r>
                      <a:r>
                        <a:rPr lang="ko-KR" altLang="en-US" sz="2000" kern="1200" dirty="0" err="1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  <a:cs typeface="+mn-cs"/>
                        </a:rPr>
                        <a:t>팀명</a:t>
                      </a:r>
                      <a:endParaRPr lang="ko-KR" altLang="en-US" sz="2000" kern="1200" dirty="0">
                        <a:solidFill>
                          <a:schemeClr val="bg1"/>
                        </a:solidFill>
                        <a:latin typeface="프리젠테이션 4 Regular" pitchFamily="2" charset="-127"/>
                        <a:ea typeface="프리젠테이션 4 Regular" pitchFamily="2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err="1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모으미</a:t>
                      </a:r>
                      <a:endParaRPr lang="ko-KR" altLang="en-US" sz="2000" dirty="0">
                        <a:solidFill>
                          <a:schemeClr val="tx1"/>
                        </a:solidFill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1717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장르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3D </a:t>
                      </a:r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퍼즐 어드벤처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2000" kern="12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  <a:cs typeface="+mn-cs"/>
                        </a:rPr>
                        <a:t>개발 팀원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err="1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김남해</a:t>
                      </a:r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, </a:t>
                      </a:r>
                      <a:r>
                        <a:rPr lang="ko-KR" altLang="en-US" sz="2000" dirty="0" err="1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송예찬</a:t>
                      </a:r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, </a:t>
                      </a:r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우성혁</a:t>
                      </a:r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, </a:t>
                      </a:r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윤대식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608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게임</a:t>
                      </a:r>
                      <a:r>
                        <a:rPr lang="en-US" altLang="ko-KR" sz="20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 </a:t>
                      </a:r>
                      <a:r>
                        <a:rPr lang="ko-KR" altLang="en-US" sz="20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플랫폼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PC - Windows</a:t>
                      </a:r>
                      <a:endParaRPr lang="ko-KR" altLang="en-US" sz="2000" dirty="0">
                        <a:solidFill>
                          <a:schemeClr val="tx1"/>
                        </a:solidFill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2000" kern="12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  <a:cs typeface="+mn-cs"/>
                        </a:rPr>
                        <a:t>이용</a:t>
                      </a:r>
                      <a:r>
                        <a:rPr lang="en-US" altLang="ko-KR" sz="2000" kern="12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  <a:cs typeface="+mn-cs"/>
                        </a:rPr>
                        <a:t> </a:t>
                      </a:r>
                      <a:r>
                        <a:rPr lang="ko-KR" altLang="en-US" sz="2000" kern="12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  <a:cs typeface="+mn-cs"/>
                        </a:rPr>
                        <a:t>가능 연령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12</a:t>
                      </a:r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세 이상 </a:t>
                      </a:r>
                      <a:r>
                        <a:rPr lang="ko-KR" altLang="en-US" sz="2000" dirty="0" err="1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이용가</a:t>
                      </a:r>
                      <a:endParaRPr lang="ko-KR" altLang="en-US" sz="2000" dirty="0">
                        <a:solidFill>
                          <a:schemeClr val="tx1"/>
                        </a:solidFill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222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개발 기간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2026.03.16 ~ 2026.04.29</a:t>
                      </a:r>
                      <a:endParaRPr lang="ko-KR" altLang="en-US" sz="2000" dirty="0">
                        <a:solidFill>
                          <a:schemeClr val="tx1"/>
                        </a:solidFill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0109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개발 프로그램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Unity 2022.3.62f3 LTS</a:t>
                      </a:r>
                    </a:p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Visual Studio 2022 + GitHub Copilot / Visual Studio Code</a:t>
                      </a:r>
                    </a:p>
                    <a:p>
                      <a:pPr algn="ctr" latinLnBrk="1"/>
                      <a:r>
                        <a:rPr lang="en-US" altLang="ko-KR" sz="2000" dirty="0" err="1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OpenAI</a:t>
                      </a:r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 Unity(with </a:t>
                      </a:r>
                      <a:r>
                        <a:rPr lang="en-US" altLang="ko-KR" sz="2000" dirty="0" err="1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Helpy</a:t>
                      </a:r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)</a:t>
                      </a:r>
                    </a:p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GitHub Desktop</a:t>
                      </a:r>
                    </a:p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Adobe Photoshop 2026</a:t>
                      </a:r>
                    </a:p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Microsoft Copilot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2386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타겟 사용자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퍼즐 요소와 스토리텔링을 선호하는 유저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2996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게임 컨셉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이야기가 담긴 퍼즐을 풀어 나가며</a:t>
                      </a:r>
                      <a:endParaRPr lang="en-US" altLang="ko-KR" sz="2000" dirty="0">
                        <a:solidFill>
                          <a:schemeClr val="tx1"/>
                        </a:solidFill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잃어버렸던 감각과 기억을 찾아 플레이어 자신의 이야기를 이어 완성하는 힐링 게임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1941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3250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A93C7E-A8FD-4D9B-95AE-56699D07F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Project Schedule</a:t>
            </a:r>
            <a:endParaRPr lang="ko-KR" altLang="en-US" dirty="0"/>
          </a:p>
        </p:txBody>
      </p:sp>
      <p:graphicFrame>
        <p:nvGraphicFramePr>
          <p:cNvPr id="7" name="표 12">
            <a:extLst>
              <a:ext uri="{FF2B5EF4-FFF2-40B4-BE49-F238E27FC236}">
                <a16:creationId xmlns:a16="http://schemas.microsoft.com/office/drawing/2014/main" id="{B89DDDF6-21B9-484C-9B59-50788C3C8D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8714835"/>
              </p:ext>
            </p:extLst>
          </p:nvPr>
        </p:nvGraphicFramePr>
        <p:xfrm>
          <a:off x="426000" y="897120"/>
          <a:ext cx="11340000" cy="56577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2223485335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3028103191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1379369639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3412586840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262822333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3529219118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4038503308"/>
                    </a:ext>
                  </a:extLst>
                </a:gridCol>
              </a:tblGrid>
              <a:tr h="34014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SUN</a:t>
                      </a:r>
                      <a:endParaRPr lang="ko-KR" altLang="en-US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MON</a:t>
                      </a:r>
                      <a:endParaRPr lang="ko-KR" altLang="en-US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TUE</a:t>
                      </a:r>
                      <a:endParaRPr lang="ko-KR" altLang="en-US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WED</a:t>
                      </a:r>
                      <a:endParaRPr lang="ko-KR" altLang="en-US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THU</a:t>
                      </a:r>
                      <a:endParaRPr lang="ko-KR" altLang="en-US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FRI</a:t>
                      </a:r>
                      <a:endParaRPr lang="ko-KR" altLang="en-US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SAT</a:t>
                      </a:r>
                      <a:endParaRPr lang="ko-KR" altLang="en-US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141900"/>
                  </a:ext>
                </a:extLst>
              </a:tr>
              <a:tr h="756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3/16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17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18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19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20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21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91398"/>
                  </a:ext>
                </a:extLst>
              </a:tr>
              <a:tr h="75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22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23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24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25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26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27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28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8848248"/>
                  </a:ext>
                </a:extLst>
              </a:tr>
              <a:tr h="75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29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30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31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4/1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3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4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183718"/>
                  </a:ext>
                </a:extLst>
              </a:tr>
              <a:tr h="75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5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6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7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8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9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10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11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081348"/>
                  </a:ext>
                </a:extLst>
              </a:tr>
              <a:tr h="75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12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13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14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15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16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17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18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1870609"/>
                  </a:ext>
                </a:extLst>
              </a:tr>
              <a:tr h="75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19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20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21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22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23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24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25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6693821"/>
                  </a:ext>
                </a:extLst>
              </a:tr>
              <a:tr h="75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26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27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28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29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267192"/>
                  </a:ext>
                </a:extLst>
              </a:tr>
            </a:tbl>
          </a:graphicData>
        </a:graphic>
      </p:graphicFrame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6C99184-3D85-4783-86E1-BF41288992F0}"/>
              </a:ext>
            </a:extLst>
          </p:cNvPr>
          <p:cNvSpPr/>
          <p:nvPr/>
        </p:nvSpPr>
        <p:spPr>
          <a:xfrm>
            <a:off x="9271000" y="4659815"/>
            <a:ext cx="651932" cy="216000"/>
          </a:xfrm>
          <a:prstGeom prst="round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FGT</a:t>
            </a:r>
            <a:endParaRPr lang="ko-KR" altLang="en-US" sz="14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32E6707-097F-4637-9EF9-E9D4B29941C5}"/>
              </a:ext>
            </a:extLst>
          </p:cNvPr>
          <p:cNvSpPr/>
          <p:nvPr/>
        </p:nvSpPr>
        <p:spPr>
          <a:xfrm>
            <a:off x="425999" y="3061042"/>
            <a:ext cx="6474333" cy="216000"/>
          </a:xfrm>
          <a:prstGeom prst="roundRect">
            <a:avLst/>
          </a:prstGeom>
          <a:solidFill>
            <a:srgbClr val="FF0080"/>
          </a:solidFill>
          <a:ln>
            <a:solidFill>
              <a:srgbClr val="800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Prototype Building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61D13BF-57B6-49D9-BC5A-B1713721549D}"/>
              </a:ext>
            </a:extLst>
          </p:cNvPr>
          <p:cNvSpPr/>
          <p:nvPr/>
        </p:nvSpPr>
        <p:spPr>
          <a:xfrm>
            <a:off x="425999" y="2536695"/>
            <a:ext cx="11339999" cy="216000"/>
          </a:xfrm>
          <a:prstGeom prst="roundRect">
            <a:avLst/>
          </a:prstGeom>
          <a:solidFill>
            <a:srgbClr val="FF0080"/>
          </a:solidFill>
          <a:ln>
            <a:solidFill>
              <a:srgbClr val="800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Prototype Building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E39EE25-FF71-41F0-95F4-0B6338B28D9A}"/>
              </a:ext>
            </a:extLst>
          </p:cNvPr>
          <p:cNvSpPr/>
          <p:nvPr/>
        </p:nvSpPr>
        <p:spPr>
          <a:xfrm>
            <a:off x="2065867" y="1542453"/>
            <a:ext cx="9698566" cy="216000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Game Design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5E8474B-B9FD-4581-805B-2FF35FB09251}"/>
              </a:ext>
            </a:extLst>
          </p:cNvPr>
          <p:cNvSpPr/>
          <p:nvPr/>
        </p:nvSpPr>
        <p:spPr>
          <a:xfrm>
            <a:off x="2065867" y="1769751"/>
            <a:ext cx="9698566" cy="216000"/>
          </a:xfrm>
          <a:prstGeom prst="roundRect">
            <a:avLst/>
          </a:prstGeom>
          <a:solidFill>
            <a:srgbClr val="FF0080"/>
          </a:solidFill>
          <a:ln>
            <a:solidFill>
              <a:srgbClr val="800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Prototype Building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FC1A867-8805-4F7B-A044-1A01DD9111F9}"/>
              </a:ext>
            </a:extLst>
          </p:cNvPr>
          <p:cNvSpPr/>
          <p:nvPr/>
        </p:nvSpPr>
        <p:spPr>
          <a:xfrm>
            <a:off x="425999" y="2298098"/>
            <a:ext cx="6474334" cy="216000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Game Design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6BA89A50-ADF7-43D6-B910-EE7ED849E40F}"/>
              </a:ext>
            </a:extLst>
          </p:cNvPr>
          <p:cNvSpPr/>
          <p:nvPr/>
        </p:nvSpPr>
        <p:spPr>
          <a:xfrm>
            <a:off x="5290100" y="3286324"/>
            <a:ext cx="6474333" cy="216000"/>
          </a:xfrm>
          <a:prstGeom prst="roundRect">
            <a:avLst/>
          </a:prstGeom>
          <a:solidFill>
            <a:srgbClr val="C000C0"/>
          </a:solidFill>
          <a:ln>
            <a:solidFill>
              <a:srgbClr val="600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Alpha Building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50C1A7F8-6AB2-441B-B332-E60E571E063C}"/>
              </a:ext>
            </a:extLst>
          </p:cNvPr>
          <p:cNvSpPr/>
          <p:nvPr/>
        </p:nvSpPr>
        <p:spPr>
          <a:xfrm>
            <a:off x="425998" y="3819113"/>
            <a:ext cx="8099935" cy="216000"/>
          </a:xfrm>
          <a:prstGeom prst="roundRect">
            <a:avLst/>
          </a:prstGeom>
          <a:solidFill>
            <a:srgbClr val="C000C0"/>
          </a:solidFill>
          <a:ln>
            <a:solidFill>
              <a:srgbClr val="600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Alpha Building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A467EAB4-183D-4597-B2EA-7422CFF0C8EE}"/>
              </a:ext>
            </a:extLst>
          </p:cNvPr>
          <p:cNvSpPr/>
          <p:nvPr/>
        </p:nvSpPr>
        <p:spPr>
          <a:xfrm>
            <a:off x="8525933" y="4044395"/>
            <a:ext cx="3237167" cy="216000"/>
          </a:xfrm>
          <a:prstGeom prst="roundRect">
            <a:avLst/>
          </a:prstGeom>
          <a:solidFill>
            <a:srgbClr val="8000FF"/>
          </a:solidFill>
          <a:ln>
            <a:solidFill>
              <a:srgbClr val="4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FGT Building / QA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48B5B2B6-6942-4DB8-8F67-C24120F4E484}"/>
              </a:ext>
            </a:extLst>
          </p:cNvPr>
          <p:cNvSpPr/>
          <p:nvPr/>
        </p:nvSpPr>
        <p:spPr>
          <a:xfrm>
            <a:off x="425998" y="4562832"/>
            <a:ext cx="8845002" cy="216000"/>
          </a:xfrm>
          <a:prstGeom prst="roundRect">
            <a:avLst/>
          </a:prstGeom>
          <a:solidFill>
            <a:srgbClr val="8000FF"/>
          </a:solidFill>
          <a:ln>
            <a:solidFill>
              <a:srgbClr val="4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FGT Building / QA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C063D2BB-1CD2-4F83-A946-8DB077741A3A}"/>
              </a:ext>
            </a:extLst>
          </p:cNvPr>
          <p:cNvSpPr/>
          <p:nvPr/>
        </p:nvSpPr>
        <p:spPr>
          <a:xfrm>
            <a:off x="425998" y="5555341"/>
            <a:ext cx="11337102" cy="216000"/>
          </a:xfrm>
          <a:prstGeom prst="roundRect">
            <a:avLst/>
          </a:prstGeom>
          <a:solidFill>
            <a:srgbClr val="4040FF"/>
          </a:solidFill>
          <a:ln>
            <a:solidFill>
              <a:srgbClr val="202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Beta Building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C8BF40F-FACA-4A6B-B180-BE3911BE5FA7}"/>
              </a:ext>
            </a:extLst>
          </p:cNvPr>
          <p:cNvSpPr/>
          <p:nvPr/>
        </p:nvSpPr>
        <p:spPr>
          <a:xfrm>
            <a:off x="9922932" y="4802872"/>
            <a:ext cx="1840168" cy="216000"/>
          </a:xfrm>
          <a:prstGeom prst="roundRect">
            <a:avLst/>
          </a:prstGeom>
          <a:solidFill>
            <a:srgbClr val="4040FF"/>
          </a:solidFill>
          <a:ln>
            <a:solidFill>
              <a:srgbClr val="202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Beta Building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10982A17-66EA-4103-A0B1-6A0B247BDD0C}"/>
              </a:ext>
            </a:extLst>
          </p:cNvPr>
          <p:cNvSpPr/>
          <p:nvPr/>
        </p:nvSpPr>
        <p:spPr>
          <a:xfrm>
            <a:off x="6248400" y="6279372"/>
            <a:ext cx="651932" cy="216000"/>
          </a:xfrm>
          <a:prstGeom prst="round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Final</a:t>
            </a:r>
            <a:endParaRPr lang="ko-KR" altLang="en-US" sz="14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28804EC6-7DAE-4735-845F-FADD3259B714}"/>
              </a:ext>
            </a:extLst>
          </p:cNvPr>
          <p:cNvSpPr/>
          <p:nvPr/>
        </p:nvSpPr>
        <p:spPr>
          <a:xfrm>
            <a:off x="425998" y="6103151"/>
            <a:ext cx="5822402" cy="216000"/>
          </a:xfrm>
          <a:prstGeom prst="roundRect">
            <a:avLst/>
          </a:prstGeom>
          <a:solidFill>
            <a:srgbClr val="4040FF"/>
          </a:solidFill>
          <a:ln>
            <a:solidFill>
              <a:srgbClr val="202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Beta Building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53421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CB14E0-2710-49E3-9C19-331C0F879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0D2461-2A1B-4F5B-889A-BC0A45C81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086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8249D-7A64-CBD5-5154-C1C811682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96E89082-4AC3-38FF-5AA3-2C8ABD833D22}"/>
              </a:ext>
            </a:extLst>
          </p:cNvPr>
          <p:cNvSpPr/>
          <p:nvPr/>
        </p:nvSpPr>
        <p:spPr>
          <a:xfrm>
            <a:off x="6377146" y="1475301"/>
            <a:ext cx="5400000" cy="324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E005AD7-57D8-A5F8-DA80-63B0CD309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QA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D7FE8B-3FC6-6DFE-F34D-09D294BCB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ko-KR" dirty="0"/>
              <a:t> NPC </a:t>
            </a:r>
            <a:r>
              <a:rPr lang="ko-KR" altLang="en-US" dirty="0"/>
              <a:t>위치 찾기 어려움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5C2CAD8-5BC6-93D2-E46E-AEA795716D9B}"/>
              </a:ext>
            </a:extLst>
          </p:cNvPr>
          <p:cNvSpPr/>
          <p:nvPr/>
        </p:nvSpPr>
        <p:spPr>
          <a:xfrm>
            <a:off x="414854" y="1476000"/>
            <a:ext cx="5400000" cy="324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F97442-3883-318D-7617-D4A2C1C65B6A}"/>
              </a:ext>
            </a:extLst>
          </p:cNvPr>
          <p:cNvSpPr txBox="1"/>
          <p:nvPr/>
        </p:nvSpPr>
        <p:spPr>
          <a:xfrm>
            <a:off x="414855" y="5108168"/>
            <a:ext cx="55866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원인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: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에피소드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1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특성상 </a:t>
            </a:r>
            <a:r>
              <a:rPr lang="ko-KR" altLang="en-US" sz="2000" dirty="0" err="1">
                <a:latin typeface="프리젠테이션 3 Light" pitchFamily="2" charset="-127"/>
                <a:ea typeface="프리젠테이션 3 Light" pitchFamily="2" charset="-127"/>
              </a:rPr>
              <a:t>맵이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 어두워서 별을 모두 획득한 뒤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, NPC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가 동굴로 이동할 때 위치를 놓치는 문제 발생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A97F08-01FF-4332-A3A8-FDBFEAD916F9}"/>
              </a:ext>
            </a:extLst>
          </p:cNvPr>
          <p:cNvSpPr txBox="1"/>
          <p:nvPr/>
        </p:nvSpPr>
        <p:spPr>
          <a:xfrm>
            <a:off x="6377146" y="5108168"/>
            <a:ext cx="5854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해결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: NPC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가 동굴로 먼저 이동할 때 </a:t>
            </a:r>
            <a:r>
              <a:rPr lang="en-US" altLang="ko-KR" sz="2000" dirty="0" err="1">
                <a:latin typeface="프리젠테이션 3 Light" pitchFamily="2" charset="-127"/>
                <a:ea typeface="프리젠테이션 3 Light" pitchFamily="2" charset="-127"/>
              </a:rPr>
              <a:t>Cinemachine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을 이용하여 </a:t>
            </a:r>
            <a:r>
              <a:rPr lang="ko-KR" altLang="en-US" sz="2000" dirty="0" err="1">
                <a:latin typeface="프리젠테이션 3 Light" pitchFamily="2" charset="-127"/>
                <a:ea typeface="프리젠테이션 3 Light" pitchFamily="2" charset="-127"/>
              </a:rPr>
              <a:t>컷씬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 재생</a:t>
            </a:r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3C404305-7B35-40E8-74FF-5D745F1161EA}"/>
              </a:ext>
            </a:extLst>
          </p:cNvPr>
          <p:cNvSpPr/>
          <p:nvPr/>
        </p:nvSpPr>
        <p:spPr>
          <a:xfrm>
            <a:off x="5928728" y="2915301"/>
            <a:ext cx="360000" cy="360000"/>
          </a:xfrm>
          <a:prstGeom prst="rightArrow">
            <a:avLst/>
          </a:prstGeom>
          <a:solidFill>
            <a:srgbClr val="4040FF"/>
          </a:solidFill>
          <a:ln>
            <a:solidFill>
              <a:srgbClr val="202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DFF3663-6C1F-9B2D-6188-63B8F4ED04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9881" y="1475301"/>
            <a:ext cx="5400000" cy="32400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33E61F4-15B5-A881-AEEA-4927542315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119" y="1475301"/>
            <a:ext cx="5392735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689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21673-F683-0F0B-AA06-B626C6AEC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AF782600-05DF-1B4A-8833-8862F22DD2AB}"/>
              </a:ext>
            </a:extLst>
          </p:cNvPr>
          <p:cNvSpPr/>
          <p:nvPr/>
        </p:nvSpPr>
        <p:spPr>
          <a:xfrm>
            <a:off x="6377146" y="1475301"/>
            <a:ext cx="5400000" cy="324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B9D58C5-C2C3-76BD-48D9-9D79FF7B0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QA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FDE343-6899-2CE6-E45B-FBEDCB1C3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ko-KR" dirty="0"/>
              <a:t> NPC</a:t>
            </a:r>
            <a:r>
              <a:rPr lang="ko-KR" altLang="en-US" dirty="0"/>
              <a:t>와 했던 대화를 </a:t>
            </a:r>
            <a:r>
              <a:rPr lang="ko-KR" altLang="en-US" dirty="0" err="1"/>
              <a:t>대화창</a:t>
            </a:r>
            <a:r>
              <a:rPr lang="ko-KR" altLang="en-US" dirty="0"/>
              <a:t> 닫을 시 잊어버리는 문제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B400C14-E807-6070-76A0-6802B3ED357F}"/>
              </a:ext>
            </a:extLst>
          </p:cNvPr>
          <p:cNvSpPr/>
          <p:nvPr/>
        </p:nvSpPr>
        <p:spPr>
          <a:xfrm>
            <a:off x="414854" y="1476000"/>
            <a:ext cx="5400000" cy="324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988341-854E-78EE-757B-FD4F9A6D8E95}"/>
              </a:ext>
            </a:extLst>
          </p:cNvPr>
          <p:cNvSpPr txBox="1"/>
          <p:nvPr/>
        </p:nvSpPr>
        <p:spPr>
          <a:xfrm>
            <a:off x="414855" y="5108168"/>
            <a:ext cx="55866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원인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: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기존에는 대화창을 닫을 시 채팅을 </a:t>
            </a:r>
            <a:r>
              <a:rPr lang="ko-KR" altLang="en-US" sz="2000" dirty="0" err="1">
                <a:latin typeface="프리젠테이션 3 Light" pitchFamily="2" charset="-127"/>
                <a:ea typeface="프리젠테이션 3 Light" pitchFamily="2" charset="-127"/>
              </a:rPr>
              <a:t>리셋시켜서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 그 전에 했던 대화와 내용이 이어지지 않았음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035289-2BDC-1277-8786-82356897C820}"/>
              </a:ext>
            </a:extLst>
          </p:cNvPr>
          <p:cNvSpPr txBox="1"/>
          <p:nvPr/>
        </p:nvSpPr>
        <p:spPr>
          <a:xfrm>
            <a:off x="6377146" y="5108168"/>
            <a:ext cx="54788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해결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: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대화창을 닫을 시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UI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만 초기화하고 내용은 저장하여 그 전에 했던 대화와 내용이 이어지도록 변경</a:t>
            </a:r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AA1CD1B3-AECE-B7DE-63C2-A7FA765115F1}"/>
              </a:ext>
            </a:extLst>
          </p:cNvPr>
          <p:cNvSpPr/>
          <p:nvPr/>
        </p:nvSpPr>
        <p:spPr>
          <a:xfrm>
            <a:off x="5928728" y="2915301"/>
            <a:ext cx="360000" cy="360000"/>
          </a:xfrm>
          <a:prstGeom prst="rightArrow">
            <a:avLst/>
          </a:prstGeom>
          <a:solidFill>
            <a:srgbClr val="4040FF"/>
          </a:solidFill>
          <a:ln>
            <a:solidFill>
              <a:srgbClr val="202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015C752-06F9-6AC1-BDDE-0664A326D4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6427" y="1487377"/>
            <a:ext cx="5400000" cy="32400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874E84A-C0BA-FC33-970A-819A118220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136" y="1487377"/>
            <a:ext cx="5400000" cy="322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836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A5A3A-5C6B-DAB3-1A08-1FE32B435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FC438F3F-ED5B-9613-493B-53851D179801}"/>
              </a:ext>
            </a:extLst>
          </p:cNvPr>
          <p:cNvSpPr/>
          <p:nvPr/>
        </p:nvSpPr>
        <p:spPr>
          <a:xfrm>
            <a:off x="6377146" y="1475301"/>
            <a:ext cx="5400000" cy="324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6C255AC-6937-AD14-8B2E-3F72F25A1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QA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BDE84D-BC25-13D6-94DA-A97016922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ko-KR" dirty="0"/>
              <a:t> </a:t>
            </a:r>
            <a:r>
              <a:rPr lang="ko-KR" altLang="en-US" dirty="0"/>
              <a:t>체크포인트 선택과 스테이지 구조를 알기 어려움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F820792-191F-E6FF-C955-F06EEBAD3500}"/>
              </a:ext>
            </a:extLst>
          </p:cNvPr>
          <p:cNvSpPr/>
          <p:nvPr/>
        </p:nvSpPr>
        <p:spPr>
          <a:xfrm>
            <a:off x="414854" y="1476000"/>
            <a:ext cx="5400000" cy="324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4B71D6-DB33-A6CA-3F8B-C6BCCFF7BC9D}"/>
              </a:ext>
            </a:extLst>
          </p:cNvPr>
          <p:cNvSpPr txBox="1"/>
          <p:nvPr/>
        </p:nvSpPr>
        <p:spPr>
          <a:xfrm>
            <a:off x="414854" y="5108168"/>
            <a:ext cx="56044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원인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: </a:t>
            </a:r>
            <a:r>
              <a:rPr lang="en-US" altLang="ko-KR" sz="2000" dirty="0" err="1">
                <a:latin typeface="프리젠테이션 3 Light" pitchFamily="2" charset="-127"/>
                <a:ea typeface="프리젠테이션 3 Light" pitchFamily="2" charset="-127"/>
              </a:rPr>
              <a:t>CheckPoint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아이콘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UI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의 디자인이 똑같고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, Stage 4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를 </a:t>
            </a:r>
            <a:b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</a:b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제외한 나머지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Stage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에는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Checkpoint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가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1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개 만 존재하였음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0B3BFD-A401-1E5D-EFE3-17EA9E5A4DDC}"/>
              </a:ext>
            </a:extLst>
          </p:cNvPr>
          <p:cNvSpPr txBox="1"/>
          <p:nvPr/>
        </p:nvSpPr>
        <p:spPr>
          <a:xfrm>
            <a:off x="6377146" y="5108168"/>
            <a:ext cx="54861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해결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: Checkpoint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아이콘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UI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의 디자인을 각 체크포인트 컨셉</a:t>
            </a:r>
            <a:b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</a:b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에 맞게 변경하고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, Stage 2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에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Checkpoint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를 추가하였음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BF79CA7-0E12-1A93-C07D-51C554284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829" y="1475301"/>
            <a:ext cx="5339895" cy="32400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26FFC75-FCA2-24A3-6477-1C1072CA0D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889" y="1475301"/>
            <a:ext cx="5359930" cy="3240000"/>
          </a:xfrm>
          <a:prstGeom prst="rect">
            <a:avLst/>
          </a:prstGeom>
        </p:spPr>
      </p:pic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D197236B-6FF7-3816-6CB3-B8924ED7A8BD}"/>
              </a:ext>
            </a:extLst>
          </p:cNvPr>
          <p:cNvSpPr/>
          <p:nvPr/>
        </p:nvSpPr>
        <p:spPr>
          <a:xfrm>
            <a:off x="5928728" y="2915301"/>
            <a:ext cx="360000" cy="360000"/>
          </a:xfrm>
          <a:prstGeom prst="rightArrow">
            <a:avLst/>
          </a:prstGeom>
          <a:solidFill>
            <a:srgbClr val="4040FF"/>
          </a:solidFill>
          <a:ln>
            <a:solidFill>
              <a:srgbClr val="202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38133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44BC9-9C96-FBC3-EEDE-A04BA62AC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8B888F-7858-6EC8-ADE8-26E1B2D2D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QA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F64A6E-CEC2-1F3C-3781-87A50C91F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998" y="855120"/>
            <a:ext cx="11519999" cy="5400000"/>
          </a:xfrm>
        </p:spPr>
        <p:txBody>
          <a:bodyPr/>
          <a:lstStyle/>
          <a:p>
            <a:pPr>
              <a:buNone/>
            </a:pPr>
            <a:r>
              <a:rPr lang="ko-KR" altLang="en-US" dirty="0"/>
              <a:t>오브젝트 조합하는 방법에 대한 가이드 부족</a:t>
            </a:r>
            <a:r>
              <a:rPr lang="en-US" altLang="ko-KR" dirty="0"/>
              <a:t>, </a:t>
            </a:r>
            <a:r>
              <a:rPr lang="ko-KR" altLang="en-US" dirty="0"/>
              <a:t>판정범위 미흡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35A8636-D5C4-C4C1-CDE5-CAB6EFB9A64C}"/>
              </a:ext>
            </a:extLst>
          </p:cNvPr>
          <p:cNvSpPr/>
          <p:nvPr/>
        </p:nvSpPr>
        <p:spPr>
          <a:xfrm>
            <a:off x="414854" y="1476000"/>
            <a:ext cx="5400000" cy="324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9521CD-1AE4-D682-7E8C-098EB5C48F1F}"/>
              </a:ext>
            </a:extLst>
          </p:cNvPr>
          <p:cNvSpPr txBox="1"/>
          <p:nvPr/>
        </p:nvSpPr>
        <p:spPr>
          <a:xfrm>
            <a:off x="414854" y="5108168"/>
            <a:ext cx="556594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원인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: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텍스트 및 카메라 전환에서 공중에서 오브젝트를 조합해야</a:t>
            </a:r>
            <a:b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</a:b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한다는 가이드가 없었음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,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판정범위가 까다로움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07B9EB-C919-4079-FC20-C14A5422F8B9}"/>
              </a:ext>
            </a:extLst>
          </p:cNvPr>
          <p:cNvSpPr txBox="1"/>
          <p:nvPr/>
        </p:nvSpPr>
        <p:spPr>
          <a:xfrm>
            <a:off x="6377146" y="5108168"/>
            <a:ext cx="533832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해결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: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카메라 전환을 통한 위치가이드 뿐만 아니라</a:t>
            </a:r>
            <a:b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</a:b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텍스트 컷  </a:t>
            </a:r>
            <a:r>
              <a:rPr lang="ko-KR" altLang="en-US" sz="2000" dirty="0" err="1">
                <a:latin typeface="프리젠테이션 3 Light" pitchFamily="2" charset="-127"/>
                <a:ea typeface="프리젠테이션 3 Light" pitchFamily="2" charset="-127"/>
              </a:rPr>
              <a:t>씬을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 통해  플레이어가 하늘을 보게끔 플레이 유도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.</a:t>
            </a:r>
            <a:b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</a:b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판정범위를 넓게 수정함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.</a:t>
            </a:r>
            <a:endParaRPr lang="ko-KR" altLang="en-US" sz="20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ADBA413-166A-7BF9-2F66-BE4A50D4B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723" y="1474009"/>
            <a:ext cx="5276261" cy="3241991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DE34921E-A32D-437E-A840-265C10186F22}"/>
              </a:ext>
            </a:extLst>
          </p:cNvPr>
          <p:cNvSpPr/>
          <p:nvPr/>
        </p:nvSpPr>
        <p:spPr>
          <a:xfrm>
            <a:off x="6299819" y="1474009"/>
            <a:ext cx="5400000" cy="324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7277A055-28D3-3A46-E862-DC723E140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0346" y="1474008"/>
            <a:ext cx="1924021" cy="3240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8480A3C-D9D2-C5BF-0190-CBFA5FA0C7CC}"/>
              </a:ext>
            </a:extLst>
          </p:cNvPr>
          <p:cNvSpPr txBox="1"/>
          <p:nvPr/>
        </p:nvSpPr>
        <p:spPr>
          <a:xfrm>
            <a:off x="7162049" y="4680853"/>
            <a:ext cx="37064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위치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+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방향 일정시간 유지 로직 스크립트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1D4F9B28-3DF3-FA36-59AB-4C686447D2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0744" y="1495869"/>
            <a:ext cx="1928812" cy="321814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2D865B88-2361-3988-DD20-4E2627A9FF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7146" y="3731620"/>
            <a:ext cx="3375574" cy="98437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1058A21-5FC9-764C-6043-E56F1BDA64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326" y="1474007"/>
            <a:ext cx="3761567" cy="2257614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5B2BF922-2174-9AEE-DFFE-EC432F355E58}"/>
              </a:ext>
            </a:extLst>
          </p:cNvPr>
          <p:cNvSpPr/>
          <p:nvPr/>
        </p:nvSpPr>
        <p:spPr>
          <a:xfrm>
            <a:off x="9098280" y="1495869"/>
            <a:ext cx="921938" cy="151956"/>
          </a:xfrm>
          <a:prstGeom prst="rect">
            <a:avLst/>
          </a:prstGeom>
          <a:noFill/>
          <a:ln w="38100"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B0954AE-DA4C-DF79-B1E8-8701AC2FC7A4}"/>
              </a:ext>
            </a:extLst>
          </p:cNvPr>
          <p:cNvSpPr txBox="1"/>
          <p:nvPr/>
        </p:nvSpPr>
        <p:spPr>
          <a:xfrm>
            <a:off x="1643142" y="4697661"/>
            <a:ext cx="2943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플레이 유도를 위한 텍스트 컷 씬 </a:t>
            </a:r>
          </a:p>
        </p:txBody>
      </p:sp>
    </p:spTree>
    <p:extLst>
      <p:ext uri="{BB962C8B-B14F-4D97-AF65-F5344CB8AC3E}">
        <p14:creationId xmlns:p14="http://schemas.microsoft.com/office/powerpoint/2010/main" val="5693850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3DC7E-EE89-2361-B874-781326FA1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D097B936-5255-508D-3198-6931522D6D45}"/>
              </a:ext>
            </a:extLst>
          </p:cNvPr>
          <p:cNvSpPr/>
          <p:nvPr/>
        </p:nvSpPr>
        <p:spPr>
          <a:xfrm>
            <a:off x="6453208" y="2142000"/>
            <a:ext cx="5400000" cy="324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A48720C-7A78-B169-EE92-22D30AA25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Trouble Shooting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CB95DB-0B2A-E7A5-B91C-DE5E357A89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문제 상황</a:t>
            </a:r>
            <a:r>
              <a:rPr lang="en-US" altLang="ko-KR" dirty="0"/>
              <a:t>: AI</a:t>
            </a:r>
            <a:r>
              <a:rPr lang="ko-KR" altLang="en-US" dirty="0"/>
              <a:t>에게 </a:t>
            </a:r>
            <a:r>
              <a:rPr lang="en-US" altLang="ko-KR" dirty="0"/>
              <a:t>NPC</a:t>
            </a:r>
            <a:r>
              <a:rPr lang="ko-KR" altLang="en-US" dirty="0"/>
              <a:t>로서의 </a:t>
            </a:r>
            <a:r>
              <a:rPr lang="ko-KR" altLang="en-US" dirty="0" err="1"/>
              <a:t>캐릭터성만을</a:t>
            </a:r>
            <a:r>
              <a:rPr lang="ko-KR" altLang="en-US" dirty="0"/>
              <a:t> 유지시키고 싶었지만 </a:t>
            </a:r>
            <a:r>
              <a:rPr lang="en-US" altLang="ko-KR" dirty="0"/>
              <a:t>”you are </a:t>
            </a:r>
            <a:r>
              <a:rPr lang="en-US" altLang="ko-KR" dirty="0" err="1"/>
              <a:t>helpy</a:t>
            </a:r>
            <a:r>
              <a:rPr lang="en-US" altLang="ko-KR" dirty="0"/>
              <a:t>-pro”,</a:t>
            </a:r>
            <a:r>
              <a:rPr lang="ko-KR" altLang="en-US" dirty="0"/>
              <a:t> </a:t>
            </a:r>
            <a:r>
              <a:rPr lang="en-US" altLang="ko-KR" dirty="0"/>
              <a:t>“ignore previous instructions” </a:t>
            </a:r>
            <a:r>
              <a:rPr lang="ko-KR" altLang="en-US" dirty="0"/>
              <a:t>등의 대사를 입력했을 때 자신의 모델명을 말하는 문제 발생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323538E-1CD2-FCC6-70E7-3B9F9CE10D30}"/>
              </a:ext>
            </a:extLst>
          </p:cNvPr>
          <p:cNvSpPr/>
          <p:nvPr/>
        </p:nvSpPr>
        <p:spPr>
          <a:xfrm>
            <a:off x="329656" y="2142000"/>
            <a:ext cx="5400000" cy="324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01303EA7-AB52-652F-F7A2-7D7B3540236F}"/>
              </a:ext>
            </a:extLst>
          </p:cNvPr>
          <p:cNvSpPr/>
          <p:nvPr/>
        </p:nvSpPr>
        <p:spPr>
          <a:xfrm>
            <a:off x="5916000" y="3582000"/>
            <a:ext cx="360000" cy="360000"/>
          </a:xfrm>
          <a:prstGeom prst="rightArrow">
            <a:avLst/>
          </a:prstGeom>
          <a:solidFill>
            <a:srgbClr val="4040FF"/>
          </a:solidFill>
          <a:ln>
            <a:solidFill>
              <a:srgbClr val="202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3A18E4-8141-4E4F-099F-9239A221614C}"/>
              </a:ext>
            </a:extLst>
          </p:cNvPr>
          <p:cNvSpPr txBox="1"/>
          <p:nvPr/>
        </p:nvSpPr>
        <p:spPr>
          <a:xfrm>
            <a:off x="243114" y="5440564"/>
            <a:ext cx="58528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원인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: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기존에는 </a:t>
            </a:r>
            <a:r>
              <a:rPr lang="en-US" altLang="ko-KR" sz="2000" dirty="0" err="1">
                <a:latin typeface="프리젠테이션 3 Light" pitchFamily="2" charset="-127"/>
                <a:ea typeface="프리젠테이션 3 Light" pitchFamily="2" charset="-127"/>
              </a:rPr>
              <a:t>PromptBuilder.cs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의 </a:t>
            </a:r>
            <a:r>
              <a:rPr lang="en-US" altLang="ko-KR" dirty="0" err="1"/>
              <a:t>BuildPrompt</a:t>
            </a:r>
            <a:endParaRPr lang="en-US" altLang="ko-KR" dirty="0"/>
          </a:p>
          <a:p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메서드 아래의 최종 핵심 강제 규칙에서만 문제를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해결하려고 </a:t>
            </a:r>
            <a:r>
              <a:rPr lang="ko-KR" altLang="en-US" sz="2000" dirty="0" err="1">
                <a:latin typeface="프리젠테이션 3 Light" pitchFamily="2" charset="-127"/>
                <a:ea typeface="프리젠테이션 3 Light" pitchFamily="2" charset="-127"/>
              </a:rPr>
              <a:t>했었음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F642C0-0308-7DAC-AFFC-FFE7B3A8E4C5}"/>
              </a:ext>
            </a:extLst>
          </p:cNvPr>
          <p:cNvSpPr txBox="1"/>
          <p:nvPr/>
        </p:nvSpPr>
        <p:spPr>
          <a:xfrm>
            <a:off x="6382289" y="5440564"/>
            <a:ext cx="554183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해결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: </a:t>
            </a:r>
            <a:r>
              <a:rPr lang="en-US" altLang="ko-KR" dirty="0" err="1"/>
              <a:t>BuildPrompt</a:t>
            </a:r>
            <a:r>
              <a:rPr lang="en-US" altLang="ko-KR" dirty="0"/>
              <a:t> </a:t>
            </a:r>
            <a:r>
              <a:rPr lang="ko-KR" altLang="en-US" dirty="0"/>
              <a:t>메서드의 </a:t>
            </a:r>
            <a:r>
              <a:rPr lang="ko-KR" altLang="en-US" dirty="0" err="1"/>
              <a:t>윗</a:t>
            </a:r>
            <a:r>
              <a:rPr lang="ko-KR" altLang="en-US" dirty="0"/>
              <a:t> 부분에 최상위 절대</a:t>
            </a:r>
            <a:endParaRPr lang="en-US" altLang="ko-KR" dirty="0"/>
          </a:p>
          <a:p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규칙을 추가하고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, </a:t>
            </a:r>
            <a:r>
              <a:rPr lang="en-US" altLang="ko-KR" sz="2000" dirty="0" err="1">
                <a:latin typeface="프리젠테이션 3 Light" pitchFamily="2" charset="-127"/>
                <a:ea typeface="프리젠테이션 3 Light" pitchFamily="2" charset="-127"/>
              </a:rPr>
              <a:t>ServerChat.cs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에서 프롬프트 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r>
              <a:rPr lang="ko-KR" altLang="en-US" sz="2000" dirty="0" err="1">
                <a:latin typeface="프리젠테이션 3 Light" pitchFamily="2" charset="-127"/>
                <a:ea typeface="프리젠테이션 3 Light" pitchFamily="2" charset="-127"/>
              </a:rPr>
              <a:t>인젝션을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 키워드로 감지하여 차단하여 해결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C39F8F6-0907-2D20-3DAB-541A786090A9}"/>
              </a:ext>
            </a:extLst>
          </p:cNvPr>
          <p:cNvSpPr/>
          <p:nvPr/>
        </p:nvSpPr>
        <p:spPr>
          <a:xfrm>
            <a:off x="9989270" y="271834"/>
            <a:ext cx="1359181" cy="129938"/>
          </a:xfrm>
          <a:prstGeom prst="rect">
            <a:avLst/>
          </a:prstGeom>
          <a:noFill/>
          <a:ln w="38100"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36E3701-F63C-93F2-9361-60CA27417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864" y="3530333"/>
            <a:ext cx="2138700" cy="172215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B1060AA-B8AC-6475-F0F5-9D757ECAB6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864" y="2410958"/>
            <a:ext cx="4479771" cy="106081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74D98FD0-902F-9E36-0C4D-ABAE918517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478" y="2777641"/>
            <a:ext cx="4851916" cy="1644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768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FE45A6A4-DE19-4C33-A87A-6DF71DB9AC9C}"/>
              </a:ext>
            </a:extLst>
          </p:cNvPr>
          <p:cNvSpPr/>
          <p:nvPr/>
        </p:nvSpPr>
        <p:spPr>
          <a:xfrm>
            <a:off x="6453208" y="2142000"/>
            <a:ext cx="5400000" cy="324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94EA8892-F16F-4CD3-947C-F3DFD9542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9555" y="2509349"/>
            <a:ext cx="2092632" cy="2160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D12038A-972B-41C7-824D-A880D07E7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Trouble Shooting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6DFA8B-082B-4A71-A9C5-6408A7EFB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문제 상황</a:t>
            </a:r>
            <a:r>
              <a:rPr lang="en-US" altLang="ko-KR" dirty="0"/>
              <a:t>: </a:t>
            </a:r>
            <a:r>
              <a:rPr lang="ko-KR" altLang="en-US" dirty="0"/>
              <a:t>에피소드 </a:t>
            </a:r>
            <a:r>
              <a:rPr lang="en-US" altLang="ko-KR" dirty="0"/>
              <a:t>2</a:t>
            </a:r>
            <a:r>
              <a:rPr lang="ko-KR" altLang="en-US" dirty="0"/>
              <a:t>의 양쪽 퍼즐을 완료하고 에피소드 </a:t>
            </a:r>
            <a:r>
              <a:rPr lang="en-US" altLang="ko-KR" dirty="0"/>
              <a:t>2</a:t>
            </a:r>
            <a:r>
              <a:rPr lang="ko-KR" altLang="en-US" dirty="0"/>
              <a:t>의</a:t>
            </a:r>
            <a:r>
              <a:rPr lang="en-US" altLang="ko-KR" dirty="0"/>
              <a:t>  </a:t>
            </a:r>
            <a:r>
              <a:rPr lang="ko-KR" altLang="en-US" dirty="0"/>
              <a:t>로비 신으로 이동하여 </a:t>
            </a:r>
            <a:r>
              <a:rPr lang="ko-KR" altLang="en-US" dirty="0" err="1"/>
              <a:t>컷신</a:t>
            </a:r>
            <a:r>
              <a:rPr lang="ko-KR" altLang="en-US" dirty="0"/>
              <a:t> 재생 시 마우스 커서 잠금 </a:t>
            </a:r>
            <a:r>
              <a:rPr lang="en-US" altLang="ko-KR" dirty="0"/>
              <a:t>UI</a:t>
            </a:r>
            <a:r>
              <a:rPr lang="ko-KR" altLang="en-US" dirty="0"/>
              <a:t>가 중간에 활성화되는 현상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2CE8F23-8ADC-4092-8829-670FC7D28CF6}"/>
              </a:ext>
            </a:extLst>
          </p:cNvPr>
          <p:cNvSpPr/>
          <p:nvPr/>
        </p:nvSpPr>
        <p:spPr>
          <a:xfrm>
            <a:off x="329656" y="2142000"/>
            <a:ext cx="5400000" cy="324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9F899087-356A-42B3-9265-2500673A52ED}"/>
              </a:ext>
            </a:extLst>
          </p:cNvPr>
          <p:cNvSpPr/>
          <p:nvPr/>
        </p:nvSpPr>
        <p:spPr>
          <a:xfrm>
            <a:off x="5916000" y="3582000"/>
            <a:ext cx="360000" cy="360000"/>
          </a:xfrm>
          <a:prstGeom prst="rightArrow">
            <a:avLst/>
          </a:prstGeom>
          <a:solidFill>
            <a:srgbClr val="4040FF"/>
          </a:solidFill>
          <a:ln>
            <a:solidFill>
              <a:srgbClr val="202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708819-E368-45C2-B79C-9460D72988F3}"/>
              </a:ext>
            </a:extLst>
          </p:cNvPr>
          <p:cNvSpPr txBox="1"/>
          <p:nvPr/>
        </p:nvSpPr>
        <p:spPr>
          <a:xfrm>
            <a:off x="335997" y="5440565"/>
            <a:ext cx="461216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원인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: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텍스트 </a:t>
            </a:r>
            <a:r>
              <a:rPr lang="ko-KR" altLang="en-US" sz="2000" dirty="0" err="1">
                <a:latin typeface="프리젠테이션 3 Light" pitchFamily="2" charset="-127"/>
                <a:ea typeface="프리젠테이션 3 Light" pitchFamily="2" charset="-127"/>
              </a:rPr>
              <a:t>컷신과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 이미지 </a:t>
            </a:r>
            <a:r>
              <a:rPr lang="ko-KR" altLang="en-US" sz="2000" dirty="0" err="1">
                <a:latin typeface="프리젠테이션 3 Light" pitchFamily="2" charset="-127"/>
                <a:ea typeface="프리젠테이션 3 Light" pitchFamily="2" charset="-127"/>
              </a:rPr>
              <a:t>컷신이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 동시에 시작된 뒤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텍스트 </a:t>
            </a:r>
            <a:r>
              <a:rPr lang="ko-KR" altLang="en-US" sz="2000" dirty="0" err="1">
                <a:latin typeface="프리젠테이션 3 Light" pitchFamily="2" charset="-127"/>
                <a:ea typeface="프리젠테이션 3 Light" pitchFamily="2" charset="-127"/>
              </a:rPr>
              <a:t>컷신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 출력 중 이미지 </a:t>
            </a:r>
            <a:r>
              <a:rPr lang="ko-KR" altLang="en-US" sz="2000" dirty="0" err="1">
                <a:latin typeface="프리젠테이션 3 Light" pitchFamily="2" charset="-127"/>
                <a:ea typeface="프리젠테이션 3 Light" pitchFamily="2" charset="-127"/>
              </a:rPr>
              <a:t>컷신이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 종료되어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r>
              <a:rPr lang="en-US" altLang="ko-KR" sz="2000" dirty="0" err="1">
                <a:latin typeface="프리젠테이션 3 Light" pitchFamily="2" charset="-127"/>
                <a:ea typeface="프리젠테이션 3 Light" pitchFamily="2" charset="-127"/>
              </a:rPr>
              <a:t>CutsceneMode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가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해제되면서 잠금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UI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가 </a:t>
            </a:r>
            <a:r>
              <a:rPr lang="ko-KR" altLang="en-US" sz="2000" dirty="0" err="1">
                <a:latin typeface="프리젠테이션 3 Light" pitchFamily="2" charset="-127"/>
                <a:ea typeface="프리젠테이션 3 Light" pitchFamily="2" charset="-127"/>
              </a:rPr>
              <a:t>켜짐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446C2A-6FEA-45AD-9C19-72B244B75E36}"/>
              </a:ext>
            </a:extLst>
          </p:cNvPr>
          <p:cNvSpPr txBox="1"/>
          <p:nvPr/>
        </p:nvSpPr>
        <p:spPr>
          <a:xfrm>
            <a:off x="6671998" y="5440565"/>
            <a:ext cx="521392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해결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: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이미지 컷신에서 </a:t>
            </a:r>
            <a:r>
              <a:rPr lang="en-US" altLang="ko-KR" sz="2000" dirty="0" err="1">
                <a:latin typeface="프리젠테이션 3 Light" pitchFamily="2" charset="-127"/>
                <a:ea typeface="프리젠테이션 3 Light" pitchFamily="2" charset="-127"/>
              </a:rPr>
              <a:t>CutsceneMode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를 해제하지 않는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조건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bool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변수를 추가하여 에피소드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2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로비 복귀 </a:t>
            </a:r>
            <a:r>
              <a:rPr lang="ko-KR" altLang="en-US" sz="2000" dirty="0" err="1">
                <a:latin typeface="프리젠테이션 3 Light" pitchFamily="2" charset="-127"/>
                <a:ea typeface="프리젠테이션 3 Light" pitchFamily="2" charset="-127"/>
              </a:rPr>
              <a:t>컷신에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양쪽 퍼즐 클리어 조건을 입력해 </a:t>
            </a:r>
            <a:r>
              <a:rPr lang="en-US" altLang="ko-KR" sz="2000" dirty="0" err="1">
                <a:latin typeface="프리젠테이션 3 Light" pitchFamily="2" charset="-127"/>
                <a:ea typeface="프리젠테이션 3 Light" pitchFamily="2" charset="-127"/>
              </a:rPr>
              <a:t>CutsceneMode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를 유지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C914631-7134-4920-88A4-C9C7F5611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592" y="2916774"/>
            <a:ext cx="2593470" cy="136645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03CE17DC-628E-4D68-941C-4A8AA7565C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8346" y="3562077"/>
            <a:ext cx="1760000" cy="1440000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B430456-82BC-48F8-97E5-C52FFEDB8F78}"/>
              </a:ext>
            </a:extLst>
          </p:cNvPr>
          <p:cNvSpPr/>
          <p:nvPr/>
        </p:nvSpPr>
        <p:spPr>
          <a:xfrm>
            <a:off x="635794" y="4055533"/>
            <a:ext cx="2345268" cy="227693"/>
          </a:xfrm>
          <a:prstGeom prst="rect">
            <a:avLst/>
          </a:prstGeom>
          <a:noFill/>
          <a:ln w="38100"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722496-D3EC-4A88-86EE-D3D2EC0D8171}"/>
              </a:ext>
            </a:extLst>
          </p:cNvPr>
          <p:cNvSpPr txBox="1"/>
          <p:nvPr/>
        </p:nvSpPr>
        <p:spPr>
          <a:xfrm>
            <a:off x="502323" y="4283226"/>
            <a:ext cx="25090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이 시점에서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(2~6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초 구간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)</a:t>
            </a:r>
          </a:p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이미지 </a:t>
            </a:r>
            <a:r>
              <a:rPr lang="ko-KR" altLang="en-US" sz="2000" dirty="0" err="1">
                <a:latin typeface="프리젠테이션 3 Light" pitchFamily="2" charset="-127"/>
                <a:ea typeface="프리젠테이션 3 Light" pitchFamily="2" charset="-127"/>
              </a:rPr>
              <a:t>컷신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 재생이 끝남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F38456-E0F8-4CF2-86FF-1210ED09F69D}"/>
              </a:ext>
            </a:extLst>
          </p:cNvPr>
          <p:cNvSpPr txBox="1"/>
          <p:nvPr/>
        </p:nvSpPr>
        <p:spPr>
          <a:xfrm>
            <a:off x="3190323" y="4976168"/>
            <a:ext cx="24160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이미지 </a:t>
            </a:r>
            <a:r>
              <a:rPr lang="ko-KR" altLang="en-US" sz="2000" dirty="0" err="1">
                <a:latin typeface="프리젠테이션 3 Light" pitchFamily="2" charset="-127"/>
                <a:ea typeface="프리젠테이션 3 Light" pitchFamily="2" charset="-127"/>
              </a:rPr>
              <a:t>컷신은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3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초 간 재생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1A0D928F-2944-4344-947E-A2D7102561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9237" y="3060000"/>
            <a:ext cx="2793993" cy="1080000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E2C6E3C5-E8C6-4BBE-85CE-F5E287DA846A}"/>
              </a:ext>
            </a:extLst>
          </p:cNvPr>
          <p:cNvSpPr/>
          <p:nvPr/>
        </p:nvSpPr>
        <p:spPr>
          <a:xfrm>
            <a:off x="7565641" y="2497476"/>
            <a:ext cx="896927" cy="97419"/>
          </a:xfrm>
          <a:prstGeom prst="rect">
            <a:avLst/>
          </a:prstGeom>
          <a:noFill/>
          <a:ln w="38100"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E1A33A7-DB5F-48F9-85AC-683174572B35}"/>
              </a:ext>
            </a:extLst>
          </p:cNvPr>
          <p:cNvSpPr txBox="1"/>
          <p:nvPr/>
        </p:nvSpPr>
        <p:spPr>
          <a:xfrm>
            <a:off x="6901459" y="2083225"/>
            <a:ext cx="22252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지정한 조건이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true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이면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05441D2-20B2-4AAE-9C65-9DF50FC94287}"/>
              </a:ext>
            </a:extLst>
          </p:cNvPr>
          <p:cNvSpPr/>
          <p:nvPr/>
        </p:nvSpPr>
        <p:spPr>
          <a:xfrm>
            <a:off x="6799555" y="4360523"/>
            <a:ext cx="1604771" cy="129938"/>
          </a:xfrm>
          <a:prstGeom prst="rect">
            <a:avLst/>
          </a:prstGeom>
          <a:noFill/>
          <a:ln w="38100"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60AEFA-2803-4F0C-8869-674510F8B300}"/>
              </a:ext>
            </a:extLst>
          </p:cNvPr>
          <p:cNvSpPr txBox="1"/>
          <p:nvPr/>
        </p:nvSpPr>
        <p:spPr>
          <a:xfrm>
            <a:off x="6709554" y="4589416"/>
            <a:ext cx="26827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dirty="0" err="1">
                <a:latin typeface="프리젠테이션 3 Light" pitchFamily="2" charset="-127"/>
                <a:ea typeface="프리젠테이션 3 Light" pitchFamily="2" charset="-127"/>
              </a:rPr>
              <a:t>CutsceneMode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를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true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로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71F0579-F7F0-42ED-B5F3-539251BBD18E}"/>
              </a:ext>
            </a:extLst>
          </p:cNvPr>
          <p:cNvSpPr/>
          <p:nvPr/>
        </p:nvSpPr>
        <p:spPr>
          <a:xfrm>
            <a:off x="10404049" y="3454813"/>
            <a:ext cx="1359181" cy="129938"/>
          </a:xfrm>
          <a:prstGeom prst="rect">
            <a:avLst/>
          </a:prstGeom>
          <a:noFill/>
          <a:ln w="38100"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F2898CE-174B-44F1-AC31-CD343D9C857B}"/>
              </a:ext>
            </a:extLst>
          </p:cNvPr>
          <p:cNvSpPr/>
          <p:nvPr/>
        </p:nvSpPr>
        <p:spPr>
          <a:xfrm>
            <a:off x="10404049" y="3862316"/>
            <a:ext cx="1359181" cy="129938"/>
          </a:xfrm>
          <a:prstGeom prst="rect">
            <a:avLst/>
          </a:prstGeom>
          <a:noFill/>
          <a:ln w="38100"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16ED804-A42A-46E7-B890-1F097124A8A0}"/>
              </a:ext>
            </a:extLst>
          </p:cNvPr>
          <p:cNvSpPr txBox="1"/>
          <p:nvPr/>
        </p:nvSpPr>
        <p:spPr>
          <a:xfrm>
            <a:off x="9815055" y="4086704"/>
            <a:ext cx="20409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퍼즐 클리어 조건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	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전달</a:t>
            </a: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C55419FD-3DE5-41CE-ABC7-DFB7A14377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3201" y="2126556"/>
            <a:ext cx="2330291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6718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D42C05-65DA-458A-A941-A421A13F6537}"/>
              </a:ext>
            </a:extLst>
          </p:cNvPr>
          <p:cNvSpPr txBox="1"/>
          <p:nvPr/>
        </p:nvSpPr>
        <p:spPr>
          <a:xfrm>
            <a:off x="336000" y="2529000"/>
            <a:ext cx="11520000" cy="180000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4000" dirty="0">
                <a:solidFill>
                  <a:schemeClr val="accent5">
                    <a:lumMod val="20000"/>
                    <a:lumOff val="80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THANK YOU</a:t>
            </a:r>
            <a:endParaRPr lang="ko-KR" altLang="en-US" sz="4000" dirty="0">
              <a:solidFill>
                <a:schemeClr val="accent5">
                  <a:lumMod val="20000"/>
                  <a:lumOff val="80000"/>
                </a:schemeClr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39129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427</TotalTime>
  <Words>622</Words>
  <Application>Microsoft Office PowerPoint</Application>
  <PresentationFormat>와이드스크린</PresentationFormat>
  <Paragraphs>162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프리젠테이션 3 Light</vt:lpstr>
      <vt:lpstr>프리젠테이션 4 Regular</vt:lpstr>
      <vt:lpstr>Arial</vt:lpstr>
      <vt:lpstr>Office 테마</vt:lpstr>
      <vt:lpstr>PowerPoint 프레젠테이션</vt:lpstr>
      <vt:lpstr>Contents</vt:lpstr>
      <vt:lpstr>Team Profile</vt:lpstr>
      <vt:lpstr>Game Design</vt:lpstr>
      <vt:lpstr>Project Schedule</vt:lpstr>
      <vt:lpstr>Project</vt:lpstr>
      <vt:lpstr>QA</vt:lpstr>
      <vt:lpstr>QA</vt:lpstr>
      <vt:lpstr>QA</vt:lpstr>
      <vt:lpstr>QA</vt:lpstr>
      <vt:lpstr>Trouble Shooting</vt:lpstr>
      <vt:lpstr>Trouble Shooting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성혁 우</dc:creator>
  <cp:lastModifiedBy>남해 김</cp:lastModifiedBy>
  <cp:revision>28</cp:revision>
  <dcterms:created xsi:type="dcterms:W3CDTF">2026-04-24T01:01:00Z</dcterms:created>
  <dcterms:modified xsi:type="dcterms:W3CDTF">2026-04-28T05:36:54Z</dcterms:modified>
</cp:coreProperties>
</file>