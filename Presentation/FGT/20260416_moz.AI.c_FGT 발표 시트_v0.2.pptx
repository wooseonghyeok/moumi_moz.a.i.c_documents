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4" r:id="rId4"/>
    <p:sldId id="275" r:id="rId5"/>
    <p:sldId id="265" r:id="rId6"/>
    <p:sldId id="266" r:id="rId7"/>
    <p:sldId id="274" r:id="rId8"/>
    <p:sldId id="258" r:id="rId9"/>
    <p:sldId id="267" r:id="rId10"/>
    <p:sldId id="260" r:id="rId11"/>
    <p:sldId id="262" r:id="rId12"/>
    <p:sldId id="261" r:id="rId13"/>
    <p:sldId id="272" r:id="rId14"/>
    <p:sldId id="276" r:id="rId15"/>
    <p:sldId id="277" r:id="rId16"/>
    <p:sldId id="273" r:id="rId17"/>
    <p:sldId id="268" r:id="rId18"/>
    <p:sldId id="269" r:id="rId19"/>
    <p:sldId id="270" r:id="rId20"/>
    <p:sldId id="271" r:id="rId21"/>
    <p:sldId id="259" r:id="rId22"/>
    <p:sldId id="278" r:id="rId23"/>
    <p:sldId id="279" r:id="rId24"/>
    <p:sldId id="263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EAE314-6D1C-4EC4-AF81-37F21D27AAE8}" v="26" dt="2026-04-16T11:25:30.8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0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11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8249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9913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8369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3739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3893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0948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935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1828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5531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3696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317061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45498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83791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33698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90405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924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000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992203"/>
            <a:ext cx="12192001" cy="54000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55999" y="6484407"/>
            <a:ext cx="180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프리젠테이션 4 Regular" pitchFamily="2" charset="-127"/>
                <a:ea typeface="프리젠테이션 4 Regular" pitchFamily="2" charset="-127"/>
              </a:defRPr>
            </a:lvl1pPr>
          </a:lstStyle>
          <a:p>
            <a:fld id="{25C42CB7-540C-4C4E-9FCE-847549FA35C6}" type="datetimeFigureOut">
              <a:rPr lang="ko-KR" altLang="en-US" smtClean="0"/>
              <a:pPr/>
              <a:t>2026-04-16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-1" y="6484407"/>
            <a:ext cx="900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프리젠테이션 4 Regular" pitchFamily="2" charset="-127"/>
                <a:ea typeface="프리젠테이션 4 Regular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12000" y="648440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프리젠테이션 4 Regular" pitchFamily="2" charset="-127"/>
                <a:ea typeface="프리젠테이션 4 Regular" pitchFamily="2" charset="-127"/>
              </a:defRPr>
            </a:lvl1pPr>
          </a:lstStyle>
          <a:p>
            <a:fld id="{C8B6B34A-2030-46B4-8F0B-F43AE4293C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8141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1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프리젠테이션 4 Regular" pitchFamily="2" charset="-127"/>
          <a:ea typeface="프리젠테이션 4 Regular" pitchFamily="2" charset="-127"/>
          <a:cs typeface="프리젠테이션 4 Regular" pitchFamily="2" charset="-127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프리젠테이션 3 Light" pitchFamily="2" charset="-127"/>
          <a:ea typeface="프리젠테이션 3 Light" pitchFamily="2" charset="-127"/>
          <a:cs typeface="+mn-cs"/>
        </a:defRPr>
      </a:lvl1pPr>
      <a:lvl2pPr marL="720000" indent="-270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프리젠테이션 3 Light" pitchFamily="2" charset="-127"/>
          <a:ea typeface="프리젠테이션 3 Light" pitchFamily="2" charset="-127"/>
          <a:cs typeface="+mn-cs"/>
        </a:defRPr>
      </a:lvl2pPr>
      <a:lvl3pPr marL="1026000" indent="-216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프리젠테이션 3 Light" pitchFamily="2" charset="-127"/>
          <a:ea typeface="프리젠테이션 3 Light" pitchFamily="2" charset="-127"/>
          <a:cs typeface="+mn-cs"/>
        </a:defRPr>
      </a:lvl3pPr>
      <a:lvl4pPr marL="1386000" indent="-216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프리젠테이션 3 Light" pitchFamily="2" charset="-127"/>
          <a:ea typeface="프리젠테이션 3 Light" pitchFamily="2" charset="-127"/>
          <a:cs typeface="+mn-cs"/>
        </a:defRPr>
      </a:lvl4pPr>
      <a:lvl5pPr marL="1674000" indent="-216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프리젠테이션 3 Light" pitchFamily="2" charset="-127"/>
          <a:ea typeface="프리젠테이션 3 Light" pitchFamily="2" charset="-127"/>
          <a:cs typeface="+mn-cs"/>
        </a:defRPr>
      </a:lvl5pPr>
      <a:lvl6pPr marL="20146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A26878-4B32-46A8-AF3B-DCEF846745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754C2ED-978E-4C96-A4CA-936A6CB6E6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Team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779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4E0B12-7B22-40C6-92F7-8DEE5DF68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11F479-2BE3-43B0-99B3-F6419A63A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000" y="992203"/>
            <a:ext cx="3600000" cy="5400000"/>
          </a:xfrm>
        </p:spPr>
        <p:txBody>
          <a:bodyPr/>
          <a:lstStyle/>
          <a:p>
            <a:r>
              <a:rPr lang="en-US" altLang="ko-KR" dirty="0"/>
              <a:t>Team Profile</a:t>
            </a:r>
          </a:p>
          <a:p>
            <a:r>
              <a:rPr lang="en-US" altLang="ko-KR" dirty="0"/>
              <a:t>Schedule</a:t>
            </a:r>
          </a:p>
          <a:p>
            <a:r>
              <a:rPr lang="en-US" altLang="ko-KR" dirty="0"/>
              <a:t>Game Proposal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D16F20B9-172E-4A30-ACAA-1403F8974FE6}"/>
              </a:ext>
            </a:extLst>
          </p:cNvPr>
          <p:cNvSpPr txBox="1">
            <a:spLocks/>
          </p:cNvSpPr>
          <p:nvPr/>
        </p:nvSpPr>
        <p:spPr>
          <a:xfrm>
            <a:off x="4296000" y="992203"/>
            <a:ext cx="3600000" cy="54000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Game Design</a:t>
            </a:r>
          </a:p>
          <a:p>
            <a:pPr lvl="1"/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Scenario</a:t>
            </a:r>
          </a:p>
          <a:p>
            <a:pPr lvl="1"/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Puzzles</a:t>
            </a:r>
          </a:p>
          <a:p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Art</a:t>
            </a:r>
          </a:p>
          <a:p>
            <a:pPr lvl="1"/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UI</a:t>
            </a:r>
          </a:p>
          <a:p>
            <a:pPr lvl="1"/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Cutscenes</a:t>
            </a:r>
          </a:p>
          <a:p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Sound</a:t>
            </a:r>
            <a:endParaRPr lang="ko-KR" altLang="en-US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75671C62-231F-42C3-BA2D-484B7FC31A20}"/>
              </a:ext>
            </a:extLst>
          </p:cNvPr>
          <p:cNvSpPr txBox="1">
            <a:spLocks/>
          </p:cNvSpPr>
          <p:nvPr/>
        </p:nvSpPr>
        <p:spPr>
          <a:xfrm>
            <a:off x="8360000" y="992203"/>
            <a:ext cx="3600000" cy="54000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Programming</a:t>
            </a:r>
          </a:p>
          <a:p>
            <a:pPr lvl="1"/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Puzzle</a:t>
            </a:r>
          </a:p>
          <a:p>
            <a:pPr lvl="2"/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Sliding</a:t>
            </a:r>
          </a:p>
          <a:p>
            <a:pPr lvl="2"/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Star Collect</a:t>
            </a:r>
          </a:p>
          <a:p>
            <a:pPr lvl="2"/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Space View</a:t>
            </a:r>
          </a:p>
          <a:p>
            <a:pPr lvl="2"/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Painting</a:t>
            </a:r>
          </a:p>
          <a:p>
            <a:pPr lvl="2"/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Sound</a:t>
            </a:r>
          </a:p>
          <a:p>
            <a:pPr lvl="2"/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Jump</a:t>
            </a:r>
          </a:p>
          <a:p>
            <a:pPr lvl="2"/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Cube Coloring</a:t>
            </a:r>
          </a:p>
          <a:p>
            <a:pPr lvl="1"/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Save – Lode</a:t>
            </a:r>
          </a:p>
          <a:p>
            <a:pPr lvl="1"/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AI</a:t>
            </a:r>
          </a:p>
        </p:txBody>
      </p:sp>
    </p:spTree>
    <p:extLst>
      <p:ext uri="{BB962C8B-B14F-4D97-AF65-F5344CB8AC3E}">
        <p14:creationId xmlns:p14="http://schemas.microsoft.com/office/powerpoint/2010/main" val="978075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DE4B6413-ECC7-4D06-91DC-01747C01CCBF}"/>
              </a:ext>
            </a:extLst>
          </p:cNvPr>
          <p:cNvSpPr/>
          <p:nvPr/>
        </p:nvSpPr>
        <p:spPr>
          <a:xfrm>
            <a:off x="600065" y="2076471"/>
            <a:ext cx="2196000" cy="291600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6EE1E19-63D2-40AC-AC09-C78C22E9E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Team Profile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4D090-CD8A-424E-9430-D1842450F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2000" y="992203"/>
            <a:ext cx="9000000" cy="5400000"/>
          </a:xfrm>
        </p:spPr>
        <p:txBody>
          <a:bodyPr/>
          <a:lstStyle/>
          <a:p>
            <a:r>
              <a:rPr lang="ko-KR" altLang="en-US" dirty="0"/>
              <a:t>담당 직무</a:t>
            </a:r>
            <a:r>
              <a:rPr lang="en-US" altLang="ko-KR" dirty="0"/>
              <a:t>: </a:t>
            </a:r>
            <a:r>
              <a:rPr lang="ko-KR" altLang="en-US" dirty="0"/>
              <a:t>기획 </a:t>
            </a:r>
            <a:r>
              <a:rPr lang="en-US" altLang="ko-KR" dirty="0"/>
              <a:t>/ </a:t>
            </a:r>
            <a:r>
              <a:rPr lang="ko-KR" altLang="en-US" dirty="0"/>
              <a:t>팀장</a:t>
            </a:r>
            <a:endParaRPr lang="en-US" altLang="ko-KR" dirty="0"/>
          </a:p>
          <a:p>
            <a:r>
              <a:rPr lang="ko-KR" altLang="en-US" dirty="0"/>
              <a:t>오프닝 </a:t>
            </a:r>
            <a:r>
              <a:rPr lang="en-US" altLang="ko-KR" dirty="0"/>
              <a:t>/ </a:t>
            </a:r>
            <a:r>
              <a:rPr lang="ko-KR" altLang="en-US" dirty="0"/>
              <a:t>에피소드 </a:t>
            </a:r>
            <a:r>
              <a:rPr lang="en-US" altLang="ko-KR" dirty="0"/>
              <a:t>4 / </a:t>
            </a:r>
            <a:r>
              <a:rPr lang="ko-KR" altLang="en-US" dirty="0"/>
              <a:t>엔딩 신</a:t>
            </a:r>
            <a:r>
              <a:rPr lang="en-US" altLang="ko-KR" dirty="0"/>
              <a:t> </a:t>
            </a:r>
            <a:r>
              <a:rPr lang="ko-KR" altLang="en-US" dirty="0"/>
              <a:t>제작</a:t>
            </a:r>
            <a:endParaRPr lang="en-US" altLang="ko-KR" dirty="0"/>
          </a:p>
          <a:p>
            <a:r>
              <a:rPr lang="ko-KR" altLang="en-US" dirty="0"/>
              <a:t>기본 기능 기획 및 관리</a:t>
            </a:r>
            <a:endParaRPr lang="en-US" altLang="ko-KR" dirty="0"/>
          </a:p>
          <a:p>
            <a:pPr lvl="1"/>
            <a:r>
              <a:rPr lang="ko-KR" altLang="en-US" dirty="0"/>
              <a:t>게임플레이 전체 플로우 구성</a:t>
            </a:r>
            <a:endParaRPr lang="en-US" altLang="ko-KR" dirty="0"/>
          </a:p>
          <a:p>
            <a:pPr lvl="1"/>
            <a:r>
              <a:rPr lang="ko-KR" altLang="en-US" dirty="0"/>
              <a:t>데이터 저장 </a:t>
            </a:r>
            <a:r>
              <a:rPr lang="en-US" altLang="ko-KR" dirty="0"/>
              <a:t>/ </a:t>
            </a:r>
            <a:r>
              <a:rPr lang="ko-KR" altLang="en-US" dirty="0"/>
              <a:t>불러오기</a:t>
            </a:r>
            <a:endParaRPr lang="en-US" altLang="ko-KR" dirty="0"/>
          </a:p>
          <a:p>
            <a:pPr lvl="1"/>
            <a:r>
              <a:rPr lang="ko-KR" altLang="en-US" dirty="0"/>
              <a:t>엔딩 조건 점수 및 태그 누적</a:t>
            </a:r>
            <a:endParaRPr lang="en-US" altLang="ko-KR" dirty="0"/>
          </a:p>
          <a:p>
            <a:r>
              <a:rPr lang="ko-KR" altLang="en-US" dirty="0"/>
              <a:t>작업 버전 관리 </a:t>
            </a:r>
            <a:endParaRPr lang="en-US" altLang="ko-KR" dirty="0"/>
          </a:p>
          <a:p>
            <a:pPr lvl="1"/>
            <a:r>
              <a:rPr lang="ko-KR" altLang="en-US" dirty="0"/>
              <a:t>개별 작업 병합 후 충돌 수정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51D3BBF-BDBE-453F-862B-01F60B1846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065" y="2094471"/>
            <a:ext cx="2160000" cy="288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AF74DF-3949-470A-889A-ACC3C2930BE7}"/>
              </a:ext>
            </a:extLst>
          </p:cNvPr>
          <p:cNvSpPr txBox="1"/>
          <p:nvPr/>
        </p:nvSpPr>
        <p:spPr>
          <a:xfrm>
            <a:off x="1172921" y="4974471"/>
            <a:ext cx="1050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&lt;</a:t>
            </a:r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우성혁</a:t>
            </a:r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&gt;</a:t>
            </a:r>
            <a:endParaRPr lang="ko-KR" altLang="en-US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15890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524E2-F3FD-F037-55B7-BB5161411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00A961B-A255-12BF-7DDC-1F4E74F9F43F}"/>
              </a:ext>
            </a:extLst>
          </p:cNvPr>
          <p:cNvSpPr/>
          <p:nvPr/>
        </p:nvSpPr>
        <p:spPr>
          <a:xfrm>
            <a:off x="600065" y="2076471"/>
            <a:ext cx="2196000" cy="291600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6CA1A8D-2C5F-4104-B0B4-ACBAA0D5C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Team Profile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39E0A7-D737-4551-056C-53F186D60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2000" y="992203"/>
            <a:ext cx="9000000" cy="5400000"/>
          </a:xfrm>
        </p:spPr>
        <p:txBody>
          <a:bodyPr/>
          <a:lstStyle/>
          <a:p>
            <a:r>
              <a:rPr lang="ko-KR" altLang="en-US" dirty="0"/>
              <a:t>담당 직무</a:t>
            </a:r>
            <a:r>
              <a:rPr lang="en-US" altLang="ko-KR" dirty="0"/>
              <a:t>: </a:t>
            </a:r>
            <a:r>
              <a:rPr lang="ko-KR" altLang="en-US" dirty="0"/>
              <a:t>개발</a:t>
            </a:r>
            <a:endParaRPr lang="en-US" altLang="ko-KR" dirty="0"/>
          </a:p>
          <a:p>
            <a:r>
              <a:rPr lang="ko-KR" altLang="en-US" dirty="0"/>
              <a:t>플레이어 이동 </a:t>
            </a:r>
            <a:r>
              <a:rPr lang="en-US" altLang="ko-KR" dirty="0"/>
              <a:t>/ </a:t>
            </a:r>
            <a:r>
              <a:rPr lang="ko-KR" altLang="en-US" dirty="0"/>
              <a:t>에피소드 </a:t>
            </a:r>
            <a:r>
              <a:rPr lang="en-US" altLang="ko-KR" dirty="0"/>
              <a:t>1 / AI NPC </a:t>
            </a:r>
            <a:r>
              <a:rPr lang="ko-KR" altLang="en-US" dirty="0"/>
              <a:t>대화 기능</a:t>
            </a:r>
            <a:endParaRPr lang="en-US" altLang="ko-KR" dirty="0"/>
          </a:p>
          <a:p>
            <a:r>
              <a:rPr lang="ko-KR" altLang="en-US" dirty="0"/>
              <a:t>기본 기능 구현</a:t>
            </a:r>
            <a:endParaRPr lang="en-US" altLang="ko-KR" dirty="0"/>
          </a:p>
          <a:p>
            <a:pPr lvl="1"/>
            <a:r>
              <a:rPr lang="en-US" altLang="ko-KR" dirty="0"/>
              <a:t>3</a:t>
            </a:r>
            <a:r>
              <a:rPr lang="ko-KR" altLang="en-US" dirty="0"/>
              <a:t>인칭 시점 기반 플레이어 이동 시스템 구현</a:t>
            </a:r>
            <a:endParaRPr lang="en-US" altLang="ko-KR" dirty="0"/>
          </a:p>
          <a:p>
            <a:r>
              <a:rPr lang="en-US" altLang="ko-KR" dirty="0"/>
              <a:t>AI </a:t>
            </a:r>
            <a:r>
              <a:rPr lang="ko-KR" altLang="en-US" dirty="0"/>
              <a:t>대화 흐름 구성</a:t>
            </a:r>
            <a:endParaRPr lang="en-US" altLang="ko-KR" dirty="0"/>
          </a:p>
          <a:p>
            <a:pPr lvl="1"/>
            <a:r>
              <a:rPr lang="en-US" altLang="ko-KR" dirty="0"/>
              <a:t>JSON </a:t>
            </a:r>
            <a:r>
              <a:rPr lang="ko-KR" altLang="en-US" dirty="0"/>
              <a:t>기반 데이터 관리 </a:t>
            </a:r>
            <a:r>
              <a:rPr lang="en-US" altLang="ko-KR" dirty="0"/>
              <a:t>&amp; </a:t>
            </a:r>
            <a:r>
              <a:rPr lang="ko-KR" altLang="en-US" dirty="0"/>
              <a:t>데이터베이스에서 필요한 정보 통합 로드 </a:t>
            </a:r>
            <a:endParaRPr lang="en-US" altLang="ko-KR" dirty="0"/>
          </a:p>
          <a:p>
            <a:pPr lvl="1"/>
            <a:r>
              <a:rPr lang="ko-KR" altLang="en-US" dirty="0"/>
              <a:t>프롬프트 생성 후 </a:t>
            </a:r>
            <a:r>
              <a:rPr lang="en-US" altLang="ko-KR" dirty="0"/>
              <a:t>AI </a:t>
            </a:r>
            <a:r>
              <a:rPr lang="ko-KR" altLang="en-US" dirty="0"/>
              <a:t>응답 요청</a:t>
            </a:r>
            <a:endParaRPr lang="en-US" altLang="ko-KR" dirty="0"/>
          </a:p>
          <a:p>
            <a:pPr lvl="1"/>
            <a:r>
              <a:rPr lang="ko-KR" altLang="en-US" dirty="0"/>
              <a:t>대화 결과를 </a:t>
            </a:r>
            <a:r>
              <a:rPr lang="en-US" altLang="ko-KR" dirty="0"/>
              <a:t>UI</a:t>
            </a:r>
            <a:r>
              <a:rPr lang="ko-KR" altLang="en-US" dirty="0"/>
              <a:t>에 출력</a:t>
            </a:r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A54289-0BE4-7DD9-F329-C800A048F88C}"/>
              </a:ext>
            </a:extLst>
          </p:cNvPr>
          <p:cNvSpPr txBox="1"/>
          <p:nvPr/>
        </p:nvSpPr>
        <p:spPr>
          <a:xfrm>
            <a:off x="1097579" y="4974471"/>
            <a:ext cx="1200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&lt;</a:t>
            </a:r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김남해</a:t>
            </a:r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&gt;</a:t>
            </a:r>
            <a:endParaRPr lang="ko-KR" altLang="en-US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2353DA8-BCD1-E6DB-1215-312D52F220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637" y="2112891"/>
            <a:ext cx="2114854" cy="282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562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표 12">
            <a:extLst>
              <a:ext uri="{FF2B5EF4-FFF2-40B4-BE49-F238E27FC236}">
                <a16:creationId xmlns:a16="http://schemas.microsoft.com/office/drawing/2014/main" id="{30DE42FA-D15E-45B0-A31D-31F9E04D7E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5218437"/>
              </p:ext>
            </p:extLst>
          </p:nvPr>
        </p:nvGraphicFramePr>
        <p:xfrm>
          <a:off x="426000" y="992188"/>
          <a:ext cx="11340000" cy="54108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2223485335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3028103191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1379369639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3412586840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262822333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3529219118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40385033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sun</a:t>
                      </a:r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>
                          <a:latin typeface="프리젠테이션 3 Light" pitchFamily="2" charset="-127"/>
                          <a:ea typeface="프리젠테이션 3 Light" pitchFamily="2" charset="-127"/>
                        </a:rPr>
                        <a:t>mon</a:t>
                      </a:r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>
                          <a:latin typeface="프리젠테이션 3 Light" pitchFamily="2" charset="-127"/>
                          <a:ea typeface="프리젠테이션 3 Light" pitchFamily="2" charset="-127"/>
                        </a:rPr>
                        <a:t>tue</a:t>
                      </a:r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wed</a:t>
                      </a:r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>
                          <a:latin typeface="프리젠테이션 3 Light" pitchFamily="2" charset="-127"/>
                          <a:ea typeface="프리젠테이션 3 Light" pitchFamily="2" charset="-127"/>
                        </a:rPr>
                        <a:t>thu</a:t>
                      </a:r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>
                          <a:latin typeface="프리젠테이션 3 Light" pitchFamily="2" charset="-127"/>
                          <a:ea typeface="프리젠테이션 3 Light" pitchFamily="2" charset="-127"/>
                        </a:rPr>
                        <a:t>fri</a:t>
                      </a:r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Sat</a:t>
                      </a:r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141900"/>
                  </a:ext>
                </a:extLst>
              </a:tr>
              <a:tr h="1008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3/16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17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18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19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20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21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91398"/>
                  </a:ext>
                </a:extLst>
              </a:tr>
              <a:tr h="100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22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23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24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25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26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27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28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8848248"/>
                  </a:ext>
                </a:extLst>
              </a:tr>
              <a:tr h="100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29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30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31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4/1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3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4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183718"/>
                  </a:ext>
                </a:extLst>
              </a:tr>
              <a:tr h="100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5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6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7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8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9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10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11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081348"/>
                  </a:ext>
                </a:extLst>
              </a:tr>
              <a:tr h="100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12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13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14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15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16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17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18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870609"/>
                  </a:ext>
                </a:extLst>
              </a:tr>
            </a:tbl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06EE1E19-63D2-40AC-AC09-C78C22E9E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Schedule</a:t>
            </a:r>
            <a:endParaRPr lang="ko-KR" altLang="en-US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818D747-51B1-4E5B-9155-203E5154BEFC}"/>
              </a:ext>
            </a:extLst>
          </p:cNvPr>
          <p:cNvSpPr/>
          <p:nvPr/>
        </p:nvSpPr>
        <p:spPr>
          <a:xfrm>
            <a:off x="9271000" y="5863042"/>
            <a:ext cx="873516" cy="216000"/>
          </a:xfrm>
          <a:prstGeom prst="round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FGT</a:t>
            </a:r>
            <a:endParaRPr lang="ko-KR" altLang="en-US" sz="14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2BD896D-5D9E-4E86-87BC-C1C8481F005C}"/>
              </a:ext>
            </a:extLst>
          </p:cNvPr>
          <p:cNvSpPr/>
          <p:nvPr/>
        </p:nvSpPr>
        <p:spPr>
          <a:xfrm>
            <a:off x="425999" y="3654454"/>
            <a:ext cx="6474333" cy="216000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Prototype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ED40177A-4477-41D8-9293-B950D4BC0D57}"/>
              </a:ext>
            </a:extLst>
          </p:cNvPr>
          <p:cNvSpPr/>
          <p:nvPr/>
        </p:nvSpPr>
        <p:spPr>
          <a:xfrm>
            <a:off x="425999" y="2885527"/>
            <a:ext cx="11339999" cy="216000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Prototype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B349750-A64D-4AC2-9410-8937E8B3DBD4}"/>
              </a:ext>
            </a:extLst>
          </p:cNvPr>
          <p:cNvSpPr/>
          <p:nvPr/>
        </p:nvSpPr>
        <p:spPr>
          <a:xfrm>
            <a:off x="2065867" y="1658128"/>
            <a:ext cx="4834466" cy="216000"/>
          </a:xfrm>
          <a:prstGeom prst="round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Design Proposal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DC171AAD-3E49-487C-8496-AD5A63CF5F67}"/>
              </a:ext>
            </a:extLst>
          </p:cNvPr>
          <p:cNvSpPr/>
          <p:nvPr/>
        </p:nvSpPr>
        <p:spPr>
          <a:xfrm>
            <a:off x="2065867" y="1893595"/>
            <a:ext cx="9698566" cy="216000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Gameplay Design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DB1302E9-66EB-4A0B-9A12-12B293B74682}"/>
              </a:ext>
            </a:extLst>
          </p:cNvPr>
          <p:cNvSpPr/>
          <p:nvPr/>
        </p:nvSpPr>
        <p:spPr>
          <a:xfrm>
            <a:off x="2065867" y="2129915"/>
            <a:ext cx="9698566" cy="216000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Prototype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9D2E6FCD-F43C-47DB-8D70-A86BD7F814B0}"/>
              </a:ext>
            </a:extLst>
          </p:cNvPr>
          <p:cNvSpPr/>
          <p:nvPr/>
        </p:nvSpPr>
        <p:spPr>
          <a:xfrm>
            <a:off x="425999" y="2646930"/>
            <a:ext cx="6474334" cy="216000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Gameplay Design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5F13807D-A55D-43F8-B8F5-E821A2839914}"/>
              </a:ext>
            </a:extLst>
          </p:cNvPr>
          <p:cNvSpPr/>
          <p:nvPr/>
        </p:nvSpPr>
        <p:spPr>
          <a:xfrm>
            <a:off x="5290100" y="3879736"/>
            <a:ext cx="6474333" cy="216000"/>
          </a:xfrm>
          <a:prstGeom prst="roundRect">
            <a:avLst/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Alpha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12F18601-085E-43AA-87F7-74FF1A3557DF}"/>
              </a:ext>
            </a:extLst>
          </p:cNvPr>
          <p:cNvSpPr/>
          <p:nvPr/>
        </p:nvSpPr>
        <p:spPr>
          <a:xfrm>
            <a:off x="425998" y="4639518"/>
            <a:ext cx="8099935" cy="216000"/>
          </a:xfrm>
          <a:prstGeom prst="roundRect">
            <a:avLst/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Alpha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D4BC9455-7F28-4B58-A5F5-4E1BBA2D4963}"/>
              </a:ext>
            </a:extLst>
          </p:cNvPr>
          <p:cNvSpPr/>
          <p:nvPr/>
        </p:nvSpPr>
        <p:spPr>
          <a:xfrm>
            <a:off x="8525933" y="4864800"/>
            <a:ext cx="3237167" cy="21600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FGT Building / QA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F9C40770-DDBC-4202-93E6-06654D1E5E45}"/>
              </a:ext>
            </a:extLst>
          </p:cNvPr>
          <p:cNvSpPr/>
          <p:nvPr/>
        </p:nvSpPr>
        <p:spPr>
          <a:xfrm>
            <a:off x="425998" y="5647042"/>
            <a:ext cx="8845002" cy="21600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FGT Building / QA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5615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EE1E19-63D2-40AC-AC09-C78C22E9E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Proposal</a:t>
            </a:r>
            <a:endParaRPr lang="ko-KR" altLang="en-US" dirty="0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ADA6B55C-F9AE-4B1F-A4C8-CFDA708139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6393476"/>
              </p:ext>
            </p:extLst>
          </p:nvPr>
        </p:nvGraphicFramePr>
        <p:xfrm>
          <a:off x="1416000" y="1241108"/>
          <a:ext cx="9360000" cy="4439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88253159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3834196413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3027253095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36131233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프로젝트명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latin typeface="프리젠테이션 3 Light" pitchFamily="2" charset="-127"/>
                          <a:ea typeface="프리젠테이션 3 Light" pitchFamily="2" charset="-127"/>
                        </a:rPr>
                        <a:t>moz.A.I.c</a:t>
                      </a:r>
                      <a:endParaRPr lang="ko-KR" altLang="en-US" sz="16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개발 </a:t>
                      </a:r>
                      <a:r>
                        <a:rPr lang="ko-KR" altLang="en-US" dirty="0" err="1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팀명</a:t>
                      </a:r>
                      <a:endParaRPr lang="ko-KR" altLang="en-US" dirty="0">
                        <a:solidFill>
                          <a:schemeClr val="bg1"/>
                        </a:solidFill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latin typeface="프리젠테이션 3 Light" pitchFamily="2" charset="-127"/>
                          <a:ea typeface="프리젠테이션 3 Light" pitchFamily="2" charset="-127"/>
                        </a:rPr>
                        <a:t>모으미</a:t>
                      </a:r>
                      <a:endParaRPr lang="ko-KR" altLang="en-US" sz="16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6939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장르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3D </a:t>
                      </a:r>
                      <a:r>
                        <a:rPr lang="ko-KR" altLang="en-US" sz="16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퍼즐 어드벤처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개발 팀원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latin typeface="프리젠테이션 3 Light" pitchFamily="2" charset="-127"/>
                          <a:ea typeface="프리젠테이션 3 Light" pitchFamily="2" charset="-127"/>
                        </a:rPr>
                        <a:t>김남해</a:t>
                      </a:r>
                      <a:r>
                        <a:rPr lang="en-US" altLang="ko-KR" sz="16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, </a:t>
                      </a:r>
                      <a:r>
                        <a:rPr lang="ko-KR" altLang="en-US" sz="1600" dirty="0" err="1">
                          <a:latin typeface="프리젠테이션 3 Light" pitchFamily="2" charset="-127"/>
                          <a:ea typeface="프리젠테이션 3 Light" pitchFamily="2" charset="-127"/>
                        </a:rPr>
                        <a:t>송예찬</a:t>
                      </a:r>
                      <a:r>
                        <a:rPr lang="en-US" altLang="ko-KR" sz="16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, </a:t>
                      </a:r>
                      <a:r>
                        <a:rPr lang="ko-KR" altLang="en-US" sz="16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우성혁</a:t>
                      </a:r>
                      <a:r>
                        <a:rPr lang="en-US" altLang="ko-KR" sz="16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, </a:t>
                      </a:r>
                      <a:r>
                        <a:rPr lang="ko-KR" altLang="en-US" sz="16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윤대식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379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게임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 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플랫폼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PC - Windows</a:t>
                      </a:r>
                      <a:endParaRPr lang="ko-KR" altLang="en-US" sz="16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이용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 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가능 연령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12</a:t>
                      </a:r>
                      <a:r>
                        <a:rPr lang="ko-KR" altLang="en-US" sz="16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세 이상 </a:t>
                      </a:r>
                      <a:r>
                        <a:rPr lang="ko-KR" altLang="en-US" sz="1600" dirty="0" err="1">
                          <a:latin typeface="프리젠테이션 3 Light" pitchFamily="2" charset="-127"/>
                          <a:ea typeface="프리젠테이션 3 Light" pitchFamily="2" charset="-127"/>
                        </a:rPr>
                        <a:t>이용가</a:t>
                      </a:r>
                      <a:endParaRPr lang="ko-KR" altLang="en-US" sz="16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189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개발 기간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2026.03.16 ~ 2026.04.29</a:t>
                      </a:r>
                      <a:endParaRPr lang="ko-KR" altLang="en-US" sz="16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8867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개발 프로그램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Unity 2022.3.62f3 LTS</a:t>
                      </a:r>
                    </a:p>
                    <a:p>
                      <a:pPr algn="ctr" latinLnBrk="1"/>
                      <a:r>
                        <a:rPr lang="en-US" altLang="ko-KR" sz="16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Visual Studio 2022 + GitHub Copilot / Visual Studio Code</a:t>
                      </a:r>
                    </a:p>
                    <a:p>
                      <a:pPr algn="ctr" latinLnBrk="1"/>
                      <a:r>
                        <a:rPr lang="en-US" altLang="ko-KR" sz="1600" dirty="0" err="1">
                          <a:latin typeface="프리젠테이션 3 Light" pitchFamily="2" charset="-127"/>
                          <a:ea typeface="프리젠테이션 3 Light" pitchFamily="2" charset="-127"/>
                        </a:rPr>
                        <a:t>OpenAI</a:t>
                      </a:r>
                      <a:r>
                        <a:rPr lang="en-US" altLang="ko-KR" sz="16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 Unity(with </a:t>
                      </a:r>
                      <a:r>
                        <a:rPr lang="en-US" altLang="ko-KR" sz="1600" dirty="0" err="1">
                          <a:latin typeface="프리젠테이션 3 Light" pitchFamily="2" charset="-127"/>
                          <a:ea typeface="프리젠테이션 3 Light" pitchFamily="2" charset="-127"/>
                        </a:rPr>
                        <a:t>Helpy</a:t>
                      </a:r>
                      <a:r>
                        <a:rPr lang="en-US" altLang="ko-KR" sz="16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)</a:t>
                      </a:r>
                    </a:p>
                    <a:p>
                      <a:pPr algn="ctr" latinLnBrk="1"/>
                      <a:r>
                        <a:rPr lang="en-US" altLang="ko-KR" sz="16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GitHub Desktop</a:t>
                      </a:r>
                    </a:p>
                    <a:p>
                      <a:pPr algn="ctr" latinLnBrk="1"/>
                      <a:r>
                        <a:rPr lang="en-US" altLang="ko-KR" sz="16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Adobe Photoshop 2026</a:t>
                      </a:r>
                    </a:p>
                    <a:p>
                      <a:pPr algn="ctr" latinLnBrk="1"/>
                      <a:r>
                        <a:rPr lang="en-US" altLang="ko-KR" sz="16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Microsoft Copilot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6490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타겟 사용자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퍼즐 요소와 스토리텔링을 선호하는 유저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9048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게임 컨셉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이야기가 담긴 퍼즐을 풀어 나가며</a:t>
                      </a:r>
                      <a:endParaRPr lang="en-US" altLang="ko-KR" sz="16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  <a:p>
                      <a:pPr algn="ctr" latinLnBrk="1"/>
                      <a:r>
                        <a:rPr lang="ko-KR" altLang="en-US" sz="16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잃어버렸던 감각과 기억을 찾아 플레이어 자신의 이야기를 이어 완성하는 힐링 게임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3346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050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EE1E19-63D2-40AC-AC09-C78C22E9E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Control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964B730F-6AB0-41D4-A72A-C128D0ECF1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1" t="22259" r="2841" b="22259"/>
          <a:stretch/>
        </p:blipFill>
        <p:spPr>
          <a:xfrm>
            <a:off x="1001500" y="1629000"/>
            <a:ext cx="10189000" cy="3600000"/>
          </a:xfrm>
          <a:prstGeom prst="rect">
            <a:avLst/>
          </a:prstGeom>
        </p:spPr>
      </p:pic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974E6072-900F-46F5-91C0-B0CD74E08BA8}"/>
              </a:ext>
            </a:extLst>
          </p:cNvPr>
          <p:cNvSpPr/>
          <p:nvPr/>
        </p:nvSpPr>
        <p:spPr>
          <a:xfrm>
            <a:off x="2195479" y="2844176"/>
            <a:ext cx="1515534" cy="1024467"/>
          </a:xfrm>
          <a:custGeom>
            <a:avLst/>
            <a:gdLst>
              <a:gd name="connsiteX0" fmla="*/ 355600 w 1515534"/>
              <a:gd name="connsiteY0" fmla="*/ 0 h 1024467"/>
              <a:gd name="connsiteX1" fmla="*/ 897466 w 1515534"/>
              <a:gd name="connsiteY1" fmla="*/ 0 h 1024467"/>
              <a:gd name="connsiteX2" fmla="*/ 897466 w 1515534"/>
              <a:gd name="connsiteY2" fmla="*/ 491068 h 1024467"/>
              <a:gd name="connsiteX3" fmla="*/ 1515534 w 1515534"/>
              <a:gd name="connsiteY3" fmla="*/ 491068 h 1024467"/>
              <a:gd name="connsiteX4" fmla="*/ 1515534 w 1515534"/>
              <a:gd name="connsiteY4" fmla="*/ 1024467 h 1024467"/>
              <a:gd name="connsiteX5" fmla="*/ 0 w 1515534"/>
              <a:gd name="connsiteY5" fmla="*/ 1024467 h 1024467"/>
              <a:gd name="connsiteX6" fmla="*/ 0 w 1515534"/>
              <a:gd name="connsiteY6" fmla="*/ 491068 h 1024467"/>
              <a:gd name="connsiteX7" fmla="*/ 355600 w 1515534"/>
              <a:gd name="connsiteY7" fmla="*/ 491068 h 1024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15534" h="1024467">
                <a:moveTo>
                  <a:pt x="355600" y="0"/>
                </a:moveTo>
                <a:lnTo>
                  <a:pt x="897466" y="0"/>
                </a:lnTo>
                <a:lnTo>
                  <a:pt x="897466" y="491068"/>
                </a:lnTo>
                <a:lnTo>
                  <a:pt x="1515534" y="491068"/>
                </a:lnTo>
                <a:lnTo>
                  <a:pt x="1515534" y="1024467"/>
                </a:lnTo>
                <a:lnTo>
                  <a:pt x="0" y="1024467"/>
                </a:lnTo>
                <a:lnTo>
                  <a:pt x="0" y="491068"/>
                </a:lnTo>
                <a:lnTo>
                  <a:pt x="355600" y="491068"/>
                </a:lnTo>
                <a:close/>
              </a:path>
            </a:pathLst>
          </a:cu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1DDC4A-0689-4624-9827-6400E40F5C45}"/>
              </a:ext>
            </a:extLst>
          </p:cNvPr>
          <p:cNvSpPr txBox="1"/>
          <p:nvPr/>
        </p:nvSpPr>
        <p:spPr>
          <a:xfrm>
            <a:off x="2441488" y="5373636"/>
            <a:ext cx="1515534" cy="584775"/>
          </a:xfrm>
          <a:prstGeom prst="rect">
            <a:avLst/>
          </a:prstGeom>
          <a:solidFill>
            <a:srgbClr val="FFFFFF">
              <a:alpha val="50196"/>
            </a:srgbClr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이동</a:t>
            </a:r>
            <a:endParaRPr lang="en-US" altLang="ko-KR" sz="1600" dirty="0">
              <a:solidFill>
                <a:schemeClr val="tx1"/>
              </a:solidFill>
              <a:latin typeface="프리젠테이션 3 Light" pitchFamily="2" charset="-127"/>
              <a:ea typeface="프리젠테이션 3 Light" pitchFamily="2" charset="-127"/>
            </a:endParaRPr>
          </a:p>
          <a:p>
            <a:r>
              <a:rPr lang="en-US" altLang="ko-KR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(</a:t>
            </a:r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앞</a:t>
            </a:r>
            <a:r>
              <a:rPr lang="en-US" altLang="ko-KR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/</a:t>
            </a:r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뒤</a:t>
            </a:r>
            <a:r>
              <a:rPr lang="en-US" altLang="ko-KR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/</a:t>
            </a:r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좌</a:t>
            </a:r>
            <a:r>
              <a:rPr lang="en-US" altLang="ko-KR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/</a:t>
            </a:r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우</a:t>
            </a:r>
            <a:r>
              <a:rPr lang="en-US" altLang="ko-KR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)</a:t>
            </a:r>
            <a:endParaRPr lang="ko-KR" altLang="en-US" sz="1600" dirty="0">
              <a:solidFill>
                <a:schemeClr val="tx1"/>
              </a:solidFill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AC20794A-6B43-4C31-B7DC-140FD2DA70B3}"/>
              </a:ext>
            </a:extLst>
          </p:cNvPr>
          <p:cNvSpPr/>
          <p:nvPr/>
        </p:nvSpPr>
        <p:spPr>
          <a:xfrm>
            <a:off x="9682608" y="2086010"/>
            <a:ext cx="395986" cy="39598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8082B1-FEFD-4735-AA11-B97BFD18BF96}"/>
              </a:ext>
            </a:extLst>
          </p:cNvPr>
          <p:cNvSpPr txBox="1"/>
          <p:nvPr/>
        </p:nvSpPr>
        <p:spPr>
          <a:xfrm>
            <a:off x="9386292" y="1178312"/>
            <a:ext cx="988618" cy="338554"/>
          </a:xfrm>
          <a:prstGeom prst="rect">
            <a:avLst/>
          </a:prstGeom>
          <a:solidFill>
            <a:srgbClr val="FFFFFF">
              <a:alpha val="50196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UI </a:t>
            </a:r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클릭</a:t>
            </a:r>
          </a:p>
        </p:txBody>
      </p:sp>
      <p:cxnSp>
        <p:nvCxnSpPr>
          <p:cNvPr id="11" name="연결선: 꺾임 60">
            <a:extLst>
              <a:ext uri="{FF2B5EF4-FFF2-40B4-BE49-F238E27FC236}">
                <a16:creationId xmlns:a16="http://schemas.microsoft.com/office/drawing/2014/main" id="{3D50E7CE-56FA-4F15-9909-D6AA8CA157C6}"/>
              </a:ext>
            </a:extLst>
          </p:cNvPr>
          <p:cNvCxnSpPr>
            <a:cxnSpLocks/>
            <a:stCxn id="10" idx="2"/>
            <a:endCxn id="9" idx="0"/>
          </p:cNvCxnSpPr>
          <p:nvPr/>
        </p:nvCxnSpPr>
        <p:spPr>
          <a:xfrm>
            <a:off x="9880601" y="1516866"/>
            <a:ext cx="0" cy="56914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C8A3FB76-EA02-4D6D-83E8-8DE3FEE78667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3199255" y="3868643"/>
            <a:ext cx="6851" cy="1504993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D6AEAF9-4A11-44D6-B53D-D6C8F90599D0}"/>
              </a:ext>
            </a:extLst>
          </p:cNvPr>
          <p:cNvSpPr/>
          <p:nvPr/>
        </p:nvSpPr>
        <p:spPr>
          <a:xfrm>
            <a:off x="1278467" y="3881966"/>
            <a:ext cx="1143000" cy="457200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6A930F-A36E-45E3-B225-B195E112B4CF}"/>
              </a:ext>
            </a:extLst>
          </p:cNvPr>
          <p:cNvSpPr txBox="1"/>
          <p:nvPr/>
        </p:nvSpPr>
        <p:spPr>
          <a:xfrm>
            <a:off x="1312334" y="5348406"/>
            <a:ext cx="914400" cy="338554"/>
          </a:xfrm>
          <a:prstGeom prst="rect">
            <a:avLst/>
          </a:prstGeom>
          <a:solidFill>
            <a:srgbClr val="FFFFFF">
              <a:alpha val="50196"/>
            </a:srgbClr>
          </a:solidFill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달리기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1EFA1BE3-0DD3-4E01-AA3E-7166BA0EEDC2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1769534" y="4339166"/>
            <a:ext cx="0" cy="1009240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D185396-4C45-4CCE-946E-120C54188847}"/>
              </a:ext>
            </a:extLst>
          </p:cNvPr>
          <p:cNvSpPr/>
          <p:nvPr/>
        </p:nvSpPr>
        <p:spPr>
          <a:xfrm>
            <a:off x="3513834" y="4397404"/>
            <a:ext cx="2556000" cy="533399"/>
          </a:xfrm>
          <a:prstGeom prst="rect">
            <a:avLst/>
          </a:prstGeom>
          <a:noFill/>
          <a:ln w="38100">
            <a:solidFill>
              <a:srgbClr val="00A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814E5B-545D-4FB8-8754-2B008CFE28FF}"/>
              </a:ext>
            </a:extLst>
          </p:cNvPr>
          <p:cNvSpPr txBox="1"/>
          <p:nvPr/>
        </p:nvSpPr>
        <p:spPr>
          <a:xfrm>
            <a:off x="4334634" y="5373636"/>
            <a:ext cx="914400" cy="338554"/>
          </a:xfrm>
          <a:prstGeom prst="rect">
            <a:avLst/>
          </a:prstGeom>
          <a:solidFill>
            <a:srgbClr val="FFFFFF">
              <a:alpha val="50196"/>
            </a:srgbClr>
          </a:solidFill>
          <a:ln w="38100">
            <a:solidFill>
              <a:srgbClr val="00A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점프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7CC8B72E-3DB2-464D-9EBF-804DF6C29533}"/>
              </a:ext>
            </a:extLst>
          </p:cNvPr>
          <p:cNvCxnSpPr>
            <a:cxnSpLocks/>
            <a:stCxn id="17" idx="0"/>
            <a:endCxn id="16" idx="2"/>
          </p:cNvCxnSpPr>
          <p:nvPr/>
        </p:nvCxnSpPr>
        <p:spPr>
          <a:xfrm flipV="1">
            <a:off x="4791834" y="4930803"/>
            <a:ext cx="0" cy="442833"/>
          </a:xfrm>
          <a:prstGeom prst="straightConnector1">
            <a:avLst/>
          </a:prstGeom>
          <a:ln w="38100">
            <a:solidFill>
              <a:srgbClr val="00A6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화살표: 왼쪽/오른쪽/위쪽/아래쪽 18">
            <a:extLst>
              <a:ext uri="{FF2B5EF4-FFF2-40B4-BE49-F238E27FC236}">
                <a16:creationId xmlns:a16="http://schemas.microsoft.com/office/drawing/2014/main" id="{AB9F7A79-7778-40BA-95BF-C2D582FB43E2}"/>
              </a:ext>
            </a:extLst>
          </p:cNvPr>
          <p:cNvSpPr/>
          <p:nvPr/>
        </p:nvSpPr>
        <p:spPr>
          <a:xfrm>
            <a:off x="9686210" y="2911608"/>
            <a:ext cx="1080000" cy="1080000"/>
          </a:xfrm>
          <a:prstGeom prst="quadArrow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C3AD44-61B4-4320-8948-73BAAA0438CD}"/>
              </a:ext>
            </a:extLst>
          </p:cNvPr>
          <p:cNvSpPr txBox="1"/>
          <p:nvPr/>
        </p:nvSpPr>
        <p:spPr>
          <a:xfrm>
            <a:off x="9618135" y="5347456"/>
            <a:ext cx="1216150" cy="338554"/>
          </a:xfrm>
          <a:prstGeom prst="rect">
            <a:avLst/>
          </a:prstGeom>
          <a:solidFill>
            <a:srgbClr val="FFFFFF">
              <a:alpha val="50196"/>
            </a:srgb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시야 회전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46E0D035-3909-41A3-A078-842AC83E2DA9}"/>
              </a:ext>
            </a:extLst>
          </p:cNvPr>
          <p:cNvCxnSpPr>
            <a:cxnSpLocks/>
            <a:stCxn id="20" idx="0"/>
            <a:endCxn id="19" idx="2"/>
          </p:cNvCxnSpPr>
          <p:nvPr/>
        </p:nvCxnSpPr>
        <p:spPr>
          <a:xfrm flipV="1">
            <a:off x="10226210" y="3991608"/>
            <a:ext cx="0" cy="1355848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4390809-9948-4B78-AB4E-2763EECE05B4}"/>
              </a:ext>
            </a:extLst>
          </p:cNvPr>
          <p:cNvSpPr/>
          <p:nvPr/>
        </p:nvSpPr>
        <p:spPr>
          <a:xfrm>
            <a:off x="3114118" y="2844176"/>
            <a:ext cx="468000" cy="46800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94205B-936A-419C-AA74-B98F16868AA4}"/>
              </a:ext>
            </a:extLst>
          </p:cNvPr>
          <p:cNvSpPr txBox="1"/>
          <p:nvPr/>
        </p:nvSpPr>
        <p:spPr>
          <a:xfrm>
            <a:off x="2719245" y="1178312"/>
            <a:ext cx="1257746" cy="338554"/>
          </a:xfrm>
          <a:prstGeom prst="rect">
            <a:avLst/>
          </a:prstGeom>
          <a:solidFill>
            <a:srgbClr val="FFFFFF">
              <a:alpha val="50196"/>
            </a:srgbClr>
          </a:solidFill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상호작용</a:t>
            </a: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75051826-E27F-4DE4-9B3F-67061E059B16}"/>
              </a:ext>
            </a:extLst>
          </p:cNvPr>
          <p:cNvCxnSpPr>
            <a:stCxn id="23" idx="2"/>
            <a:endCxn id="22" idx="0"/>
          </p:cNvCxnSpPr>
          <p:nvPr/>
        </p:nvCxnSpPr>
        <p:spPr>
          <a:xfrm>
            <a:off x="3348118" y="1516866"/>
            <a:ext cx="0" cy="1327310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4456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9F82EE-9531-43A4-AFDC-8889BA318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Scenario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831D63-94EB-4DA0-BCA7-B719E7871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Episode 0. </a:t>
            </a:r>
            <a:r>
              <a:rPr lang="ko-KR" altLang="en-US" dirty="0"/>
              <a:t>미지로의 발돋움</a:t>
            </a:r>
            <a:endParaRPr lang="en-US" altLang="ko-KR" dirty="0"/>
          </a:p>
          <a:p>
            <a:pPr lvl="1"/>
            <a:r>
              <a:rPr lang="ko-KR" altLang="en-US" b="1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잊어버린</a:t>
            </a:r>
            <a:r>
              <a:rPr lang="ko-KR" altLang="en-US" dirty="0"/>
              <a:t> 나의 세계와 마주하는 프롤로그</a:t>
            </a:r>
            <a:endParaRPr lang="en-US" altLang="ko-KR" dirty="0"/>
          </a:p>
          <a:p>
            <a:r>
              <a:rPr lang="en-US" altLang="ko-KR" dirty="0"/>
              <a:t>Episode 1. </a:t>
            </a:r>
            <a:r>
              <a:rPr lang="ko-KR" altLang="en-US" dirty="0"/>
              <a:t>별을 헤는 소녀</a:t>
            </a:r>
            <a:endParaRPr lang="en-US" altLang="ko-KR" dirty="0"/>
          </a:p>
          <a:p>
            <a:pPr lvl="1"/>
            <a:r>
              <a:rPr lang="ko-KR" altLang="en-US" dirty="0"/>
              <a:t>어린</a:t>
            </a:r>
            <a:r>
              <a:rPr lang="en-US" altLang="ko-KR" dirty="0"/>
              <a:t> </a:t>
            </a:r>
            <a:r>
              <a:rPr lang="ko-KR" altLang="en-US" dirty="0"/>
              <a:t>시절의 </a:t>
            </a:r>
            <a:r>
              <a:rPr lang="ko-KR" altLang="en-US" b="1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기억</a:t>
            </a:r>
            <a:r>
              <a:rPr lang="ko-KR" altLang="en-US" dirty="0"/>
              <a:t>을 되찾는 첫 번째 이야기</a:t>
            </a:r>
            <a:endParaRPr lang="en-US" altLang="ko-KR" dirty="0"/>
          </a:p>
          <a:p>
            <a:r>
              <a:rPr lang="en-US" altLang="ko-KR" dirty="0"/>
              <a:t>Episode 2. </a:t>
            </a:r>
            <a:r>
              <a:rPr lang="ko-KR" altLang="en-US" dirty="0"/>
              <a:t>사라진 그림</a:t>
            </a:r>
            <a:endParaRPr lang="en-US" altLang="ko-KR" dirty="0"/>
          </a:p>
          <a:p>
            <a:pPr lvl="1"/>
            <a:r>
              <a:rPr lang="ko-KR" altLang="en-US" b="1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색채</a:t>
            </a:r>
            <a:r>
              <a:rPr lang="ko-KR" altLang="en-US" dirty="0"/>
              <a:t>와 꿈을 되찾는 두 번째 이야기</a:t>
            </a:r>
            <a:endParaRPr lang="en-US" altLang="ko-KR" dirty="0"/>
          </a:p>
          <a:p>
            <a:r>
              <a:rPr lang="en-US" altLang="ko-KR" dirty="0"/>
              <a:t>Episode 3. </a:t>
            </a:r>
            <a:r>
              <a:rPr lang="ko-KR" altLang="en-US" dirty="0"/>
              <a:t>멈춰버린 노래</a:t>
            </a:r>
            <a:endParaRPr lang="en-US" altLang="ko-KR" dirty="0"/>
          </a:p>
          <a:p>
            <a:pPr lvl="1"/>
            <a:r>
              <a:rPr lang="ko-KR" altLang="en-US" b="1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소리</a:t>
            </a:r>
            <a:r>
              <a:rPr lang="ko-KR" altLang="en-US" dirty="0"/>
              <a:t>와 연인에 대한 기억을 되찾는 세 번째 이야기</a:t>
            </a:r>
            <a:endParaRPr lang="en-US" altLang="ko-KR" dirty="0"/>
          </a:p>
          <a:p>
            <a:r>
              <a:rPr lang="en-US" altLang="ko-KR" dirty="0"/>
              <a:t>Episode 4. </a:t>
            </a:r>
            <a:r>
              <a:rPr lang="ko-KR" altLang="en-US" dirty="0"/>
              <a:t>뒤섞인 이야기</a:t>
            </a:r>
            <a:endParaRPr lang="en-US" altLang="ko-KR" dirty="0"/>
          </a:p>
          <a:p>
            <a:pPr lvl="1"/>
            <a:r>
              <a:rPr lang="ko-KR" altLang="en-US" dirty="0"/>
              <a:t>흩어진 기억과 </a:t>
            </a:r>
            <a:r>
              <a:rPr lang="ko-KR" altLang="en-US" b="1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자신</a:t>
            </a:r>
            <a:r>
              <a:rPr lang="ko-KR" altLang="en-US" dirty="0"/>
              <a:t>을 다시 하나로 잇는 마지막 이야기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A7FAE2F-599A-42F5-ADB3-8600E97F14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0266" y="4578863"/>
            <a:ext cx="2160000" cy="1440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19D2D0B-10E6-4437-8DBE-B4D4130132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0266" y="992203"/>
            <a:ext cx="2160000" cy="144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E73C869-44A6-4B70-B253-DFF39F4E9E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5750" y="2785533"/>
            <a:ext cx="2160000" cy="1440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CC91003-75FD-4762-B3C7-802F7116CA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0266" y="2785533"/>
            <a:ext cx="2160000" cy="1440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5CF53B1-EF7A-45A1-AF43-AF221F78CDF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4782" y="2785533"/>
            <a:ext cx="216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856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9F82EE-9531-43A4-AFDC-8889BA318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Puzzles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831D63-94EB-4DA0-BCA7-B719E7871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67" y="992203"/>
            <a:ext cx="5760000" cy="2592000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altLang="ko-KR" dirty="0"/>
              <a:t>Episode 1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AF28F31C-9359-45F0-853A-4C7CA0C59031}"/>
              </a:ext>
            </a:extLst>
          </p:cNvPr>
          <p:cNvSpPr txBox="1">
            <a:spLocks/>
          </p:cNvSpPr>
          <p:nvPr/>
        </p:nvSpPr>
        <p:spPr>
          <a:xfrm>
            <a:off x="6239933" y="992203"/>
            <a:ext cx="5760000" cy="25920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Episode 2</a:t>
            </a:r>
            <a:endParaRPr lang="ko-KR" altLang="en-US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5924DF5F-FFBE-4322-A2B5-FE1A69A08E6B}"/>
              </a:ext>
            </a:extLst>
          </p:cNvPr>
          <p:cNvSpPr txBox="1">
            <a:spLocks/>
          </p:cNvSpPr>
          <p:nvPr/>
        </p:nvSpPr>
        <p:spPr>
          <a:xfrm>
            <a:off x="192067" y="3676406"/>
            <a:ext cx="5760000" cy="25920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Episode 3</a:t>
            </a:r>
            <a:endParaRPr lang="ko-KR" altLang="en-US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A559C90-B985-4766-A837-A2825FC20D18}"/>
              </a:ext>
            </a:extLst>
          </p:cNvPr>
          <p:cNvSpPr txBox="1">
            <a:spLocks/>
          </p:cNvSpPr>
          <p:nvPr/>
        </p:nvSpPr>
        <p:spPr>
          <a:xfrm>
            <a:off x="6239933" y="3676406"/>
            <a:ext cx="5760000" cy="25920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Episode 4</a:t>
            </a:r>
            <a:endParaRPr lang="ko-KR" altLang="en-US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90DF398-41E1-4C15-8F58-272B27C2D2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86" y="1558927"/>
            <a:ext cx="2520000" cy="142462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D87F04D-DA30-478B-991A-7DAF71DF85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8518" y="1562982"/>
            <a:ext cx="2520000" cy="141651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0964BD4E-695E-4EA0-8F14-AEE3B0523D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0652" y="1563675"/>
            <a:ext cx="2520000" cy="141512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2D9B843-5244-4727-ADEA-DA44B28A9C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86" y="4260300"/>
            <a:ext cx="2520000" cy="141612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6302BB66-29B6-4CED-84FA-8881EB68641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0652" y="4260300"/>
            <a:ext cx="2520000" cy="1424211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12CDEDE-2FE6-4B15-A52B-DBF1F796F16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933" y="4259908"/>
            <a:ext cx="2520000" cy="141651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B45945A-362E-419A-B111-3D0A08218050}"/>
              </a:ext>
            </a:extLst>
          </p:cNvPr>
          <p:cNvSpPr txBox="1"/>
          <p:nvPr/>
        </p:nvSpPr>
        <p:spPr>
          <a:xfrm>
            <a:off x="8025306" y="5768623"/>
            <a:ext cx="24064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latin typeface="프리젠테이션 3 Light" pitchFamily="2" charset="-127"/>
                <a:ea typeface="프리젠테이션 3 Light" pitchFamily="2" charset="-127"/>
              </a:rPr>
              <a:t>발판 색을 맞추어 마지막 발판으로 건너가기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9A7888-6D49-4EAC-8BA0-440205EE9C92}"/>
              </a:ext>
            </a:extLst>
          </p:cNvPr>
          <p:cNvSpPr txBox="1"/>
          <p:nvPr/>
        </p:nvSpPr>
        <p:spPr>
          <a:xfrm>
            <a:off x="3247064" y="3131151"/>
            <a:ext cx="23871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latin typeface="프리젠테이션 3 Light" pitchFamily="2" charset="-127"/>
                <a:ea typeface="프리젠테이션 3 Light" pitchFamily="2" charset="-127"/>
              </a:rPr>
              <a:t>슬라이딩 전 별 수집 → 색깔 기억해 고르기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7E5DC11-0DD0-4829-BF6B-985F0BEA7B43}"/>
              </a:ext>
            </a:extLst>
          </p:cNvPr>
          <p:cNvSpPr txBox="1"/>
          <p:nvPr/>
        </p:nvSpPr>
        <p:spPr>
          <a:xfrm>
            <a:off x="354234" y="3131151"/>
            <a:ext cx="2557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latin typeface="프리젠테이션 3 Light" pitchFamily="2" charset="-127"/>
                <a:ea typeface="프리젠테이션 3 Light" pitchFamily="2" charset="-127"/>
              </a:rPr>
              <a:t>기둥에서 방향을 바꾸며 슬라이딩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3A47F1D-59EF-4245-9F0F-C58D22839A79}"/>
              </a:ext>
            </a:extLst>
          </p:cNvPr>
          <p:cNvSpPr txBox="1"/>
          <p:nvPr/>
        </p:nvSpPr>
        <p:spPr>
          <a:xfrm>
            <a:off x="6765984" y="3131151"/>
            <a:ext cx="18293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latin typeface="프리젠테이션 3 Light" pitchFamily="2" charset="-127"/>
                <a:ea typeface="프리젠테이션 3 Light" pitchFamily="2" charset="-127"/>
              </a:rPr>
              <a:t>색을 혼합해 같은 색 발판에 착지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4E4B122-7AD9-4272-A524-A324ADFCFDDA}"/>
              </a:ext>
            </a:extLst>
          </p:cNvPr>
          <p:cNvSpPr txBox="1"/>
          <p:nvPr/>
        </p:nvSpPr>
        <p:spPr>
          <a:xfrm>
            <a:off x="9631558" y="3131151"/>
            <a:ext cx="1713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latin typeface="프리젠테이션 3 Light" pitchFamily="2" charset="-127"/>
                <a:ea typeface="프리젠테이션 3 Light" pitchFamily="2" charset="-127"/>
              </a:rPr>
              <a:t>시점 방향을 맞추어 조각 결합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7A7D22D-EC65-437F-98AA-0B58ADFA54F7}"/>
              </a:ext>
            </a:extLst>
          </p:cNvPr>
          <p:cNvSpPr txBox="1"/>
          <p:nvPr/>
        </p:nvSpPr>
        <p:spPr>
          <a:xfrm>
            <a:off x="891240" y="5768624"/>
            <a:ext cx="1483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latin typeface="프리젠테이션 3 Light" pitchFamily="2" charset="-127"/>
                <a:ea typeface="프리젠테이션 3 Light" pitchFamily="2" charset="-127"/>
              </a:rPr>
              <a:t>소리 듣고 악보 조각 찾기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E3065D-7BA2-4419-A1DA-86B4349F283D}"/>
              </a:ext>
            </a:extLst>
          </p:cNvPr>
          <p:cNvSpPr txBox="1"/>
          <p:nvPr/>
        </p:nvSpPr>
        <p:spPr>
          <a:xfrm>
            <a:off x="3554836" y="5768623"/>
            <a:ext cx="1771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latin typeface="프리젠테이션 3 Light" pitchFamily="2" charset="-127"/>
                <a:ea typeface="프리젠테이션 3 Light" pitchFamily="2" charset="-127"/>
              </a:rPr>
              <a:t>리듬에 맞추어 징검다리 건너기</a:t>
            </a: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78A299AF-800A-4E1A-8361-21A6E734C42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80652" y="1562290"/>
            <a:ext cx="2520000" cy="1417895"/>
          </a:xfrm>
          <a:prstGeom prst="rect">
            <a:avLst/>
          </a:prstGeom>
        </p:spPr>
      </p:pic>
      <p:sp>
        <p:nvSpPr>
          <p:cNvPr id="30" name="화살표: 오른쪽 29">
            <a:extLst>
              <a:ext uri="{FF2B5EF4-FFF2-40B4-BE49-F238E27FC236}">
                <a16:creationId xmlns:a16="http://schemas.microsoft.com/office/drawing/2014/main" id="{4859F4D9-98AC-472A-995D-65CC10638CB7}"/>
              </a:ext>
            </a:extLst>
          </p:cNvPr>
          <p:cNvSpPr/>
          <p:nvPr/>
        </p:nvSpPr>
        <p:spPr>
          <a:xfrm>
            <a:off x="2856719" y="2108203"/>
            <a:ext cx="360000" cy="36000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화살표: 오른쪽 30">
            <a:extLst>
              <a:ext uri="{FF2B5EF4-FFF2-40B4-BE49-F238E27FC236}">
                <a16:creationId xmlns:a16="http://schemas.microsoft.com/office/drawing/2014/main" id="{73ECB2E2-5BAD-4D84-B7DE-EDB263135040}"/>
              </a:ext>
            </a:extLst>
          </p:cNvPr>
          <p:cNvSpPr/>
          <p:nvPr/>
        </p:nvSpPr>
        <p:spPr>
          <a:xfrm>
            <a:off x="2851321" y="4788164"/>
            <a:ext cx="360000" cy="36000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십자형 31">
            <a:extLst>
              <a:ext uri="{FF2B5EF4-FFF2-40B4-BE49-F238E27FC236}">
                <a16:creationId xmlns:a16="http://schemas.microsoft.com/office/drawing/2014/main" id="{0D1A7336-3604-4E19-8AC0-0D4F4C5081B0}"/>
              </a:ext>
            </a:extLst>
          </p:cNvPr>
          <p:cNvSpPr/>
          <p:nvPr/>
        </p:nvSpPr>
        <p:spPr>
          <a:xfrm>
            <a:off x="8907039" y="2108203"/>
            <a:ext cx="360000" cy="360000"/>
          </a:xfrm>
          <a:prstGeom prst="plus">
            <a:avLst>
              <a:gd name="adj" fmla="val 3333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8483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9F82EE-9531-43A4-AFDC-8889BA318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Sound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831D63-94EB-4DA0-BCA7-B719E7871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Control Manager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80780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9F82EE-9531-43A4-AFDC-8889BA318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Art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831D63-94EB-4DA0-BCA7-B719E7871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UI</a:t>
            </a:r>
          </a:p>
          <a:p>
            <a:r>
              <a:rPr lang="en-US" altLang="ko-KR" dirty="0"/>
              <a:t>Cutscene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6940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9F82EE-9531-43A4-AFDC-8889BA318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Programming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831D63-94EB-4DA0-BCA7-B719E7871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Save – Lode Data</a:t>
            </a:r>
          </a:p>
          <a:p>
            <a:pPr lvl="1"/>
            <a:r>
              <a:rPr lang="en-US" altLang="ko-KR" dirty="0"/>
              <a:t>New Data Creation</a:t>
            </a:r>
          </a:p>
          <a:p>
            <a:pPr lvl="1"/>
            <a:r>
              <a:rPr lang="en-US" altLang="ko-KR" dirty="0"/>
              <a:t>Ending Condition</a:t>
            </a:r>
          </a:p>
          <a:p>
            <a:r>
              <a:rPr lang="en-US" altLang="ko-KR" dirty="0"/>
              <a:t>Puzzle</a:t>
            </a:r>
          </a:p>
          <a:p>
            <a:pPr lvl="1"/>
            <a:r>
              <a:rPr lang="en-US" altLang="ko-KR" dirty="0"/>
              <a:t>Sliding</a:t>
            </a:r>
          </a:p>
          <a:p>
            <a:pPr lvl="1"/>
            <a:r>
              <a:rPr lang="en-US" altLang="ko-KR" dirty="0"/>
              <a:t>Star Collect</a:t>
            </a:r>
          </a:p>
          <a:p>
            <a:pPr lvl="1"/>
            <a:r>
              <a:rPr lang="en-US" altLang="ko-KR" dirty="0"/>
              <a:t>Space View</a:t>
            </a:r>
          </a:p>
          <a:p>
            <a:pPr lvl="1"/>
            <a:r>
              <a:rPr lang="en-US" altLang="ko-KR" dirty="0"/>
              <a:t>Painting</a:t>
            </a:r>
          </a:p>
          <a:p>
            <a:pPr lvl="1"/>
            <a:r>
              <a:rPr lang="en-US" altLang="ko-KR" dirty="0"/>
              <a:t>Sound</a:t>
            </a:r>
          </a:p>
          <a:p>
            <a:pPr lvl="1"/>
            <a:r>
              <a:rPr lang="en-US" altLang="ko-KR" dirty="0"/>
              <a:t>Jump</a:t>
            </a:r>
          </a:p>
          <a:p>
            <a:pPr lvl="1"/>
            <a:r>
              <a:rPr lang="en-US" altLang="ko-KR" dirty="0"/>
              <a:t>Cube Coloring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284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9F82EE-9531-43A4-AFDC-8889BA318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Puzzle</a:t>
            </a:r>
            <a:r>
              <a:rPr lang="ko-KR" altLang="en-US" dirty="0">
                <a:latin typeface="프리젠테이션 3 Light" pitchFamily="2" charset="-127"/>
                <a:ea typeface="프리젠테이션 3 Light" pitchFamily="2" charset="-127"/>
              </a:rPr>
              <a:t> </a:t>
            </a:r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1 –</a:t>
            </a:r>
            <a:r>
              <a:rPr lang="ko-KR" altLang="en-US" dirty="0">
                <a:latin typeface="프리젠테이션 3 Light" pitchFamily="2" charset="-127"/>
                <a:ea typeface="프리젠테이션 3 Light" pitchFamily="2" charset="-127"/>
              </a:rPr>
              <a:t> 슬라이딩 로직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8B64F68-DA85-C755-5EAA-1BCCE6CA77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785" y="1113900"/>
            <a:ext cx="2746607" cy="273058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36FC6C8-A1C2-1CE1-1D8A-82A4F7A2CC1B}"/>
              </a:ext>
            </a:extLst>
          </p:cNvPr>
          <p:cNvSpPr txBox="1"/>
          <p:nvPr/>
        </p:nvSpPr>
        <p:spPr>
          <a:xfrm>
            <a:off x="893777" y="4384716"/>
            <a:ext cx="46478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이동 방향을 </a:t>
            </a:r>
            <a:r>
              <a:rPr lang="en-US" altLang="ko-KR" sz="2400" dirty="0"/>
              <a:t>X</a:t>
            </a:r>
            <a:r>
              <a:rPr lang="ko-KR" altLang="en-US" sz="2400" dirty="0"/>
              <a:t>축 또는 </a:t>
            </a:r>
            <a:r>
              <a:rPr lang="en-US" altLang="ko-KR" sz="2400" dirty="0"/>
              <a:t>Z</a:t>
            </a:r>
            <a:r>
              <a:rPr lang="ko-KR" altLang="en-US" sz="2400" dirty="0"/>
              <a:t>축으로 고정하여 입력 값에 따라 이동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4A08533-5839-4BC4-5EFA-64BE43D6B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7683" y="1113899"/>
            <a:ext cx="2746607" cy="273058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50DB2-7844-7F64-4058-00AB50E2D921}"/>
              </a:ext>
            </a:extLst>
          </p:cNvPr>
          <p:cNvSpPr txBox="1"/>
          <p:nvPr/>
        </p:nvSpPr>
        <p:spPr>
          <a:xfrm>
            <a:off x="6458868" y="4376541"/>
            <a:ext cx="50309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앞에 장애물이 있는지 </a:t>
            </a:r>
            <a:r>
              <a:rPr lang="ko-KR" altLang="en-US" sz="2400" dirty="0" err="1"/>
              <a:t>레이캐스트로</a:t>
            </a:r>
            <a:r>
              <a:rPr lang="ko-KR" altLang="en-US" sz="2400" dirty="0"/>
              <a:t> 확인 후 있으면 멈춤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765CA57-B0EA-97BB-D9A9-3E146417BC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7712" y="1113900"/>
            <a:ext cx="2746607" cy="2730583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8FB4D3C5-FBC9-9421-370E-C0B087B937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3722" y="1113899"/>
            <a:ext cx="2746607" cy="273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5686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CA482-F841-C43F-45F3-7C965117D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D5D867-F2AC-DE18-01DD-1708BEC33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Puzzle</a:t>
            </a:r>
            <a:r>
              <a:rPr lang="ko-KR" altLang="en-US" dirty="0">
                <a:latin typeface="프리젠테이션 3 Light" pitchFamily="2" charset="-127"/>
                <a:ea typeface="프리젠테이션 3 Light" pitchFamily="2" charset="-127"/>
              </a:rPr>
              <a:t> </a:t>
            </a:r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1 –</a:t>
            </a:r>
            <a:r>
              <a:rPr lang="ko-KR" altLang="en-US" dirty="0">
                <a:latin typeface="프리젠테이션 3 Light" pitchFamily="2" charset="-127"/>
                <a:ea typeface="프리젠테이션 3 Light" pitchFamily="2" charset="-127"/>
              </a:rPr>
              <a:t> 별 수집 </a:t>
            </a:r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&amp; </a:t>
            </a:r>
            <a:r>
              <a:rPr lang="ko-KR" altLang="en-US" dirty="0">
                <a:latin typeface="프리젠테이션 3 Light" pitchFamily="2" charset="-127"/>
                <a:ea typeface="프리젠테이션 3 Light" pitchFamily="2" charset="-127"/>
              </a:rPr>
              <a:t>맞히기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7CD19EC-90DF-5D8D-21B9-A9C69F9396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358" y="1057047"/>
            <a:ext cx="2899880" cy="371122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E0E9F39-2FB3-95EF-B043-AB1CA9F53B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4916" y="900000"/>
            <a:ext cx="2899880" cy="384946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73010D9-9993-25DD-6A89-58393AF238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4021" y="3740218"/>
            <a:ext cx="3658111" cy="100924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289C111-E8E6-A1F8-7EF0-ECEC8AEE28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4020" y="1057047"/>
            <a:ext cx="3658111" cy="252612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D47606D-EC1F-536B-5345-54672B2C2EAA}"/>
              </a:ext>
            </a:extLst>
          </p:cNvPr>
          <p:cNvSpPr txBox="1"/>
          <p:nvPr/>
        </p:nvSpPr>
        <p:spPr>
          <a:xfrm>
            <a:off x="1206631" y="4996206"/>
            <a:ext cx="88989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수집했던 별의 </a:t>
            </a:r>
            <a:r>
              <a:rPr lang="en-US" altLang="ko-KR" dirty="0"/>
              <a:t>ID(ID</a:t>
            </a:r>
            <a:r>
              <a:rPr lang="ko-KR" altLang="en-US" dirty="0"/>
              <a:t>마다 색상이 다름</a:t>
            </a:r>
            <a:r>
              <a:rPr lang="en-US" altLang="ko-KR" dirty="0"/>
              <a:t>)</a:t>
            </a:r>
            <a:r>
              <a:rPr lang="ko-KR" altLang="en-US" dirty="0"/>
              <a:t>를 저장했다가 오답 별과 함께 슬롯에 배치</a:t>
            </a:r>
            <a:endParaRPr lang="en-US" altLang="ko-KR" dirty="0"/>
          </a:p>
          <a:p>
            <a:r>
              <a:rPr lang="ko-KR" altLang="en-US" dirty="0"/>
              <a:t>슬롯을 무작위로 섞어서 퍼즐 생성</a:t>
            </a:r>
            <a:endParaRPr lang="en-US" altLang="ko-KR" dirty="0"/>
          </a:p>
          <a:p>
            <a:r>
              <a:rPr lang="ko-KR" altLang="en-US" dirty="0"/>
              <a:t>가지고 있던 별의 </a:t>
            </a:r>
            <a:r>
              <a:rPr lang="en-US" altLang="ko-KR" dirty="0"/>
              <a:t>ID</a:t>
            </a:r>
            <a:r>
              <a:rPr lang="ko-KR" altLang="en-US" dirty="0"/>
              <a:t>와 다르면 정답처리</a:t>
            </a:r>
          </a:p>
        </p:txBody>
      </p:sp>
    </p:spTree>
    <p:extLst>
      <p:ext uri="{BB962C8B-B14F-4D97-AF65-F5344CB8AC3E}">
        <p14:creationId xmlns:p14="http://schemas.microsoft.com/office/powerpoint/2010/main" val="837006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FD352-63C2-3E80-B273-CBE9D5D3A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FC198020-2FA1-4FEC-F07B-826A6EF4EE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468" y="1276049"/>
            <a:ext cx="7621064" cy="4305901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E3232112-5AEF-BE78-57D5-30ECF295C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9006" y="1170934"/>
            <a:ext cx="3759428" cy="45000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04FCD8B-23AB-71A6-5B0B-32DE9AA669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566" y="1170934"/>
            <a:ext cx="3108510" cy="4500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AF99D79-C8A9-A33A-6D2F-FC5B17094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Puzzle</a:t>
            </a:r>
            <a:r>
              <a:rPr lang="ko-KR" altLang="en-US" dirty="0">
                <a:latin typeface="프리젠테이션 3 Light" pitchFamily="2" charset="-127"/>
                <a:ea typeface="프리젠테이션 3 Light" pitchFamily="2" charset="-127"/>
              </a:rPr>
              <a:t> </a:t>
            </a:r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4 –</a:t>
            </a:r>
            <a:r>
              <a:rPr lang="ko-KR" altLang="en-US" dirty="0">
                <a:latin typeface="프리젠테이션 3 Light" pitchFamily="2" charset="-127"/>
                <a:ea typeface="프리젠테이션 3 Light" pitchFamily="2" charset="-127"/>
              </a:rPr>
              <a:t> 발판 동작 판정</a:t>
            </a:r>
            <a:endParaRPr lang="en-US" altLang="ko-K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A71A9B-A8DE-645E-2F87-1656A34FC281}"/>
              </a:ext>
            </a:extLst>
          </p:cNvPr>
          <p:cNvSpPr txBox="1"/>
          <p:nvPr/>
        </p:nvSpPr>
        <p:spPr>
          <a:xfrm>
            <a:off x="1953248" y="1170934"/>
            <a:ext cx="13388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이웃</a:t>
            </a:r>
            <a:r>
              <a:rPr lang="en-US" altLang="ko-KR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발판 색 비교 판정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389F28-C529-8C4E-1696-C7A63FB97B65}"/>
              </a:ext>
            </a:extLst>
          </p:cNvPr>
          <p:cNvSpPr txBox="1"/>
          <p:nvPr/>
        </p:nvSpPr>
        <p:spPr>
          <a:xfrm>
            <a:off x="10467628" y="1170934"/>
            <a:ext cx="15408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발판</a:t>
            </a:r>
            <a:r>
              <a:rPr lang="en-US" altLang="ko-KR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스위치 상호작용 동작</a:t>
            </a:r>
          </a:p>
        </p:txBody>
      </p:sp>
    </p:spTree>
    <p:extLst>
      <p:ext uri="{BB962C8B-B14F-4D97-AF65-F5344CB8AC3E}">
        <p14:creationId xmlns:p14="http://schemas.microsoft.com/office/powerpoint/2010/main" val="13286277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5657B3A-A1AB-4DFD-8B14-FC9C29FF5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4994" y="1285576"/>
            <a:ext cx="7602011" cy="428684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8FB3D1F-3C39-4352-A33A-72B12172A4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65" y="1170934"/>
            <a:ext cx="4500000" cy="285490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73A47D7-85E0-41A3-818D-64A048032D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8434" y="1170934"/>
            <a:ext cx="4500000" cy="207551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C9F82EE-9531-43A4-AFDC-8889BA318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Puzzle</a:t>
            </a:r>
            <a:r>
              <a:rPr lang="ko-KR" altLang="en-US" dirty="0">
                <a:latin typeface="프리젠테이션 3 Light" pitchFamily="2" charset="-127"/>
                <a:ea typeface="프리젠테이션 3 Light" pitchFamily="2" charset="-127"/>
              </a:rPr>
              <a:t> </a:t>
            </a:r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4 – 100% </a:t>
            </a:r>
            <a:r>
              <a:rPr lang="ko-KR" altLang="en-US" dirty="0">
                <a:latin typeface="프리젠테이션 3 Light" pitchFamily="2" charset="-127"/>
                <a:ea typeface="프리젠테이션 3 Light" pitchFamily="2" charset="-127"/>
              </a:rPr>
              <a:t>완료 여부 계산</a:t>
            </a:r>
            <a:endParaRPr lang="en-US" altLang="ko-K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D49408-82C4-4130-AD09-280EAA935FB1}"/>
              </a:ext>
            </a:extLst>
          </p:cNvPr>
          <p:cNvSpPr txBox="1"/>
          <p:nvPr/>
        </p:nvSpPr>
        <p:spPr>
          <a:xfrm>
            <a:off x="10669608" y="2969445"/>
            <a:ext cx="13388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발판 색 통일 여부 판정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878C1D-3075-4F39-9561-C623D2AB39AD}"/>
              </a:ext>
            </a:extLst>
          </p:cNvPr>
          <p:cNvSpPr txBox="1"/>
          <p:nvPr/>
        </p:nvSpPr>
        <p:spPr>
          <a:xfrm>
            <a:off x="3229321" y="3748843"/>
            <a:ext cx="1454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최종 퍼즐 완료 태그 판정</a:t>
            </a:r>
            <a:endParaRPr lang="ko-KR" altLang="en-US" sz="1200" dirty="0">
              <a:solidFill>
                <a:schemeClr val="bg1"/>
              </a:solidFill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918A8206-60C9-4C76-B178-C3AE48A59C16}"/>
              </a:ext>
            </a:extLst>
          </p:cNvPr>
          <p:cNvSpPr/>
          <p:nvPr/>
        </p:nvSpPr>
        <p:spPr>
          <a:xfrm>
            <a:off x="6095999" y="2717800"/>
            <a:ext cx="1058334" cy="448733"/>
          </a:xfrm>
          <a:prstGeom prst="ellipse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BED1471A-D766-47AF-BFF0-956FC7B01C91}"/>
              </a:ext>
            </a:extLst>
          </p:cNvPr>
          <p:cNvSpPr/>
          <p:nvPr/>
        </p:nvSpPr>
        <p:spPr>
          <a:xfrm>
            <a:off x="10100733" y="2565400"/>
            <a:ext cx="585809" cy="276999"/>
          </a:xfrm>
          <a:prstGeom prst="ellipse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6718FA25-EFB6-4B9A-A85C-22C8B7BB4772}"/>
              </a:ext>
            </a:extLst>
          </p:cNvPr>
          <p:cNvSpPr/>
          <p:nvPr/>
        </p:nvSpPr>
        <p:spPr>
          <a:xfrm>
            <a:off x="7181011" y="2816999"/>
            <a:ext cx="354099" cy="2880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00924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9F82EE-9531-43A4-AFDC-8889BA318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Save – Lode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831D63-94EB-4DA0-BCA7-B719E7871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Data Setting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1E1D3B9-D1CD-4066-96F5-AFE51B520C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06" y="1408797"/>
            <a:ext cx="5400000" cy="480095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4D49714-6F19-4631-B2B8-3A34EB381E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089869"/>
            <a:ext cx="5400000" cy="34388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C01F701-2709-465B-B846-B071B22FBB96}"/>
              </a:ext>
            </a:extLst>
          </p:cNvPr>
          <p:cNvSpPr txBox="1"/>
          <p:nvPr/>
        </p:nvSpPr>
        <p:spPr>
          <a:xfrm>
            <a:off x="4181916" y="5932749"/>
            <a:ext cx="14253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세이브 데이터 기본 구조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F6ED26-EF79-4F6D-B010-864590980DE1}"/>
              </a:ext>
            </a:extLst>
          </p:cNvPr>
          <p:cNvSpPr txBox="1"/>
          <p:nvPr/>
        </p:nvSpPr>
        <p:spPr>
          <a:xfrm>
            <a:off x="10113890" y="4879960"/>
            <a:ext cx="13821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세부 데이터 구조</a:t>
            </a:r>
            <a:endParaRPr lang="en-US" altLang="ko-KR" sz="1200" dirty="0">
              <a:solidFill>
                <a:schemeClr val="bg1"/>
              </a:solidFill>
              <a:latin typeface="프리젠테이션 3 Light" pitchFamily="2" charset="-127"/>
              <a:ea typeface="프리젠테이션 3 Light" pitchFamily="2" charset="-127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※ </a:t>
            </a:r>
            <a:r>
              <a:rPr lang="ko-KR" altLang="en-US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엔딩 조건</a:t>
            </a:r>
            <a:endParaRPr lang="en-US" altLang="ko-KR" sz="1200" dirty="0">
              <a:solidFill>
                <a:schemeClr val="bg1"/>
              </a:solidFill>
              <a:latin typeface="프리젠테이션 3 Light" pitchFamily="2" charset="-127"/>
              <a:ea typeface="프리젠테이션 3 Light" pitchFamily="2" charset="-127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※ NPC </a:t>
            </a:r>
            <a:r>
              <a:rPr lang="ko-KR" altLang="en-US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정보 </a:t>
            </a:r>
            <a:r>
              <a:rPr lang="en-US" altLang="ko-KR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- </a:t>
            </a:r>
            <a:r>
              <a:rPr lang="ko-KR" altLang="en-US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키워드</a:t>
            </a:r>
          </a:p>
        </p:txBody>
      </p:sp>
    </p:spTree>
    <p:extLst>
      <p:ext uri="{BB962C8B-B14F-4D97-AF65-F5344CB8AC3E}">
        <p14:creationId xmlns:p14="http://schemas.microsoft.com/office/powerpoint/2010/main" val="4735455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13358E4-A11B-4C59-9513-5FDE5980B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06" y="1408798"/>
            <a:ext cx="5760000" cy="323368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0734FEE-7F26-48B4-9E81-9CF82210E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756" y="1408797"/>
            <a:ext cx="3388500" cy="3600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D13C5E0-EBD6-4ECF-B7DC-79CCA6A644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8706" y="1408797"/>
            <a:ext cx="2115988" cy="3600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C9F82EE-9531-43A4-AFDC-8889BA318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Save – Lode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831D63-94EB-4DA0-BCA7-B719E7871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New Data Creation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01F701-2709-465B-B846-B071B22FBB96}"/>
              </a:ext>
            </a:extLst>
          </p:cNvPr>
          <p:cNvSpPr txBox="1"/>
          <p:nvPr/>
        </p:nvSpPr>
        <p:spPr>
          <a:xfrm>
            <a:off x="7830449" y="4731798"/>
            <a:ext cx="18309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세이브 데이터 </a:t>
            </a:r>
            <a:r>
              <a:rPr lang="en-US" altLang="ko-KR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JSON</a:t>
            </a:r>
            <a:r>
              <a:rPr lang="ko-KR" altLang="en-US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 파일 생성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F6ED26-EF79-4F6D-B010-864590980DE1}"/>
              </a:ext>
            </a:extLst>
          </p:cNvPr>
          <p:cNvSpPr txBox="1"/>
          <p:nvPr/>
        </p:nvSpPr>
        <p:spPr>
          <a:xfrm>
            <a:off x="10466330" y="4731797"/>
            <a:ext cx="1518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NPC </a:t>
            </a:r>
            <a:r>
              <a:rPr lang="ko-KR" altLang="en-US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정보 기본값 </a:t>
            </a:r>
            <a:r>
              <a:rPr lang="en-US" altLang="ko-KR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JSON</a:t>
            </a:r>
            <a:endParaRPr lang="ko-KR" altLang="en-US" sz="1200" dirty="0">
              <a:solidFill>
                <a:schemeClr val="bg1"/>
              </a:solidFill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2" name="화살표: 왼쪽 11">
            <a:extLst>
              <a:ext uri="{FF2B5EF4-FFF2-40B4-BE49-F238E27FC236}">
                <a16:creationId xmlns:a16="http://schemas.microsoft.com/office/drawing/2014/main" id="{617F5836-21DD-49AB-9799-FA40C813FDE8}"/>
              </a:ext>
            </a:extLst>
          </p:cNvPr>
          <p:cNvSpPr/>
          <p:nvPr/>
        </p:nvSpPr>
        <p:spPr>
          <a:xfrm>
            <a:off x="8686801" y="3514336"/>
            <a:ext cx="1117600" cy="2880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화살표: 왼쪽 12">
            <a:extLst>
              <a:ext uri="{FF2B5EF4-FFF2-40B4-BE49-F238E27FC236}">
                <a16:creationId xmlns:a16="http://schemas.microsoft.com/office/drawing/2014/main" id="{61D6F84D-0F26-4A7C-84F9-91001B32A1BD}"/>
              </a:ext>
            </a:extLst>
          </p:cNvPr>
          <p:cNvSpPr/>
          <p:nvPr/>
        </p:nvSpPr>
        <p:spPr>
          <a:xfrm>
            <a:off x="3953933" y="3405006"/>
            <a:ext cx="2205517" cy="2880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EB4379D-21E6-4FD9-9831-16464E78C02B}"/>
              </a:ext>
            </a:extLst>
          </p:cNvPr>
          <p:cNvSpPr/>
          <p:nvPr/>
        </p:nvSpPr>
        <p:spPr>
          <a:xfrm>
            <a:off x="2294468" y="3370403"/>
            <a:ext cx="1578226" cy="33107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11580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E472AE53-1FB2-45A8-B92C-58034C58D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4694" y="2751022"/>
            <a:ext cx="5400000" cy="40228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3F6ED26-EF79-4F6D-B010-864590980DE1}"/>
              </a:ext>
            </a:extLst>
          </p:cNvPr>
          <p:cNvSpPr txBox="1"/>
          <p:nvPr/>
        </p:nvSpPr>
        <p:spPr>
          <a:xfrm>
            <a:off x="10415034" y="3993093"/>
            <a:ext cx="1569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세이브 데이터 생성 후 저장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3542269-13EF-42F7-A998-567B539B7221}"/>
              </a:ext>
            </a:extLst>
          </p:cNvPr>
          <p:cNvSpPr/>
          <p:nvPr/>
        </p:nvSpPr>
        <p:spPr>
          <a:xfrm>
            <a:off x="6804827" y="2983725"/>
            <a:ext cx="5179867" cy="128693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EC34596-24E2-4239-ADED-711000471635}"/>
              </a:ext>
            </a:extLst>
          </p:cNvPr>
          <p:cNvSpPr/>
          <p:nvPr/>
        </p:nvSpPr>
        <p:spPr>
          <a:xfrm>
            <a:off x="6804827" y="4727859"/>
            <a:ext cx="5179867" cy="128693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793553-CDFA-401C-9931-AA69652BA8CA}"/>
              </a:ext>
            </a:extLst>
          </p:cNvPr>
          <p:cNvSpPr txBox="1"/>
          <p:nvPr/>
        </p:nvSpPr>
        <p:spPr>
          <a:xfrm>
            <a:off x="10213055" y="5737793"/>
            <a:ext cx="17716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슬롯에 저장된 데이터 불러오기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C9F82EE-9531-43A4-AFDC-8889BA318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Save – Lode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831D63-94EB-4DA0-BCA7-B719E7871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Data Save/Load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C8FC2CA-8446-45C3-A499-8529580A92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306" y="1408797"/>
            <a:ext cx="5668166" cy="316274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99A172E-E0B8-48E9-98E5-FEF415CB02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306" y="4257572"/>
            <a:ext cx="5400000" cy="25163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C01F701-2709-465B-B846-B071B22FBB96}"/>
              </a:ext>
            </a:extLst>
          </p:cNvPr>
          <p:cNvSpPr txBox="1"/>
          <p:nvPr/>
        </p:nvSpPr>
        <p:spPr>
          <a:xfrm>
            <a:off x="4181916" y="6496898"/>
            <a:ext cx="14253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세이브 데이터 슬롯 동작</a:t>
            </a: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617F5836-21DD-49AB-9799-FA40C813FDE8}"/>
              </a:ext>
            </a:extLst>
          </p:cNvPr>
          <p:cNvSpPr/>
          <p:nvPr/>
        </p:nvSpPr>
        <p:spPr>
          <a:xfrm rot="20700000">
            <a:off x="5372140" y="4115532"/>
            <a:ext cx="1336168" cy="2880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F1336B66-5F37-4EC5-84FD-A894BA5ABA4C}"/>
              </a:ext>
            </a:extLst>
          </p:cNvPr>
          <p:cNvSpPr/>
          <p:nvPr/>
        </p:nvSpPr>
        <p:spPr>
          <a:xfrm>
            <a:off x="4049984" y="5053804"/>
            <a:ext cx="2672549" cy="2880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67D4029-ED74-4D93-9F61-AAD809AAA5B8}"/>
              </a:ext>
            </a:extLst>
          </p:cNvPr>
          <p:cNvSpPr/>
          <p:nvPr/>
        </p:nvSpPr>
        <p:spPr>
          <a:xfrm>
            <a:off x="465667" y="2436906"/>
            <a:ext cx="5046133" cy="62401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42040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DC08E8F7-3D79-47A6-82EF-A09D658E3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07" y="1154361"/>
            <a:ext cx="5393517" cy="5400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C9F82EE-9531-43A4-AFDC-8889BA318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Ending Condition</a:t>
            </a:r>
            <a:endParaRPr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F6ED26-EF79-4F6D-B010-864590980DE1}"/>
              </a:ext>
            </a:extLst>
          </p:cNvPr>
          <p:cNvSpPr txBox="1"/>
          <p:nvPr/>
        </p:nvSpPr>
        <p:spPr>
          <a:xfrm>
            <a:off x="3516026" y="3702334"/>
            <a:ext cx="13099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기억</a:t>
            </a:r>
            <a:r>
              <a:rPr lang="en-US" altLang="ko-KR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재구성 점수 조건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3542269-13EF-42F7-A998-567B539B7221}"/>
              </a:ext>
            </a:extLst>
          </p:cNvPr>
          <p:cNvSpPr/>
          <p:nvPr/>
        </p:nvSpPr>
        <p:spPr>
          <a:xfrm>
            <a:off x="237067" y="2064708"/>
            <a:ext cx="4588933" cy="191462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EC34596-24E2-4239-ADED-711000471635}"/>
              </a:ext>
            </a:extLst>
          </p:cNvPr>
          <p:cNvSpPr/>
          <p:nvPr/>
        </p:nvSpPr>
        <p:spPr>
          <a:xfrm>
            <a:off x="237067" y="4028041"/>
            <a:ext cx="5300133" cy="150069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793553-CDFA-401C-9931-AA69652BA8CA}"/>
              </a:ext>
            </a:extLst>
          </p:cNvPr>
          <p:cNvSpPr txBox="1"/>
          <p:nvPr/>
        </p:nvSpPr>
        <p:spPr>
          <a:xfrm>
            <a:off x="4342642" y="5251734"/>
            <a:ext cx="11945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필수 태그 수집 조건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A65A0E0-D74E-46C1-A520-E65518D9C5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54361"/>
            <a:ext cx="3572374" cy="638264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5A710589-A75F-4A53-96E6-B7186EAC9F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064708"/>
            <a:ext cx="5649113" cy="1705213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A9A2CBD3-5011-4455-B828-3DCDAF1515CB}"/>
              </a:ext>
            </a:extLst>
          </p:cNvPr>
          <p:cNvSpPr/>
          <p:nvPr/>
        </p:nvSpPr>
        <p:spPr>
          <a:xfrm>
            <a:off x="6256867" y="2683933"/>
            <a:ext cx="1968375" cy="1524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28252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9F82EE-9531-43A4-AFDC-8889BA318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831D63-94EB-4DA0-BCA7-B719E7871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NPC Talking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DFA0DEA-27C4-710E-6389-E94B2AD2A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748" y="1470582"/>
            <a:ext cx="2948924" cy="353033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EC138FA-8AD6-65CD-A7AE-D6D1B347A7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8121" y="1470582"/>
            <a:ext cx="2772162" cy="353033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368DD66-A66A-B21B-7E33-D0AD83B21B9B}"/>
              </a:ext>
            </a:extLst>
          </p:cNvPr>
          <p:cNvSpPr txBox="1"/>
          <p:nvPr/>
        </p:nvSpPr>
        <p:spPr>
          <a:xfrm>
            <a:off x="1141935" y="5090326"/>
            <a:ext cx="16545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&lt;</a:t>
            </a:r>
            <a:r>
              <a:rPr lang="en-US" altLang="ko-KR" sz="1400" dirty="0" err="1"/>
              <a:t>npc_profile.json</a:t>
            </a:r>
            <a:r>
              <a:rPr lang="en-US" altLang="ko-KR" sz="1400" dirty="0"/>
              <a:t>&gt;</a:t>
            </a:r>
            <a:endParaRPr lang="ko-KR" altLang="en-US" sz="14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0F65656-B018-AA67-00D6-9B78CA77C8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4732" y="1489246"/>
            <a:ext cx="3813118" cy="353033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0569FAE-E89F-FDFD-728C-9C3AD90084BD}"/>
              </a:ext>
            </a:extLst>
          </p:cNvPr>
          <p:cNvSpPr txBox="1"/>
          <p:nvPr/>
        </p:nvSpPr>
        <p:spPr>
          <a:xfrm>
            <a:off x="4533809" y="5090327"/>
            <a:ext cx="19207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&lt;</a:t>
            </a:r>
            <a:r>
              <a:rPr lang="en-US" altLang="ko-KR" sz="1400" dirty="0" err="1"/>
              <a:t>NpcProfileData.cs</a:t>
            </a:r>
            <a:r>
              <a:rPr lang="en-US" altLang="ko-KR" sz="1400" dirty="0"/>
              <a:t>&gt;</a:t>
            </a:r>
            <a:endParaRPr lang="ko-KR" alt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EBE21C-1942-ECC2-522B-C04AD326DBD6}"/>
              </a:ext>
            </a:extLst>
          </p:cNvPr>
          <p:cNvSpPr txBox="1"/>
          <p:nvPr/>
        </p:nvSpPr>
        <p:spPr>
          <a:xfrm>
            <a:off x="8309577" y="5090327"/>
            <a:ext cx="22834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&lt;</a:t>
            </a:r>
            <a:r>
              <a:rPr lang="en-US" altLang="ko-KR" sz="1400" dirty="0" err="1"/>
              <a:t>GameDialogueDatabase</a:t>
            </a:r>
            <a:r>
              <a:rPr lang="en-US" altLang="ko-KR" sz="1400" dirty="0"/>
              <a:t>&gt;</a:t>
            </a:r>
            <a:endParaRPr lang="ko-KR" altLang="en-US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9F2E4B-60A2-3D9E-CEA4-3373A854AC78}"/>
              </a:ext>
            </a:extLst>
          </p:cNvPr>
          <p:cNvSpPr txBox="1"/>
          <p:nvPr/>
        </p:nvSpPr>
        <p:spPr>
          <a:xfrm>
            <a:off x="494748" y="5590166"/>
            <a:ext cx="91156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JSON </a:t>
            </a:r>
            <a:r>
              <a:rPr lang="ko-KR" altLang="en-US" dirty="0"/>
              <a:t>기반 데이터 관리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데이터베이스에서 필요한 정보 통합 로드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663781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15C91-2E2A-FAAA-DA9E-3CF0E0117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8C3B3E-4E6B-D20D-4AD6-62437081F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8A6DE2-5BB1-9C58-F28D-E48941C95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NPC Talking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257041-08F2-EB48-C603-448E44668C65}"/>
              </a:ext>
            </a:extLst>
          </p:cNvPr>
          <p:cNvSpPr txBox="1"/>
          <p:nvPr/>
        </p:nvSpPr>
        <p:spPr>
          <a:xfrm>
            <a:off x="1540881" y="5032952"/>
            <a:ext cx="16545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&lt;</a:t>
            </a:r>
            <a:r>
              <a:rPr lang="en-US" altLang="ko-KR" sz="1400" dirty="0" err="1"/>
              <a:t>PromptBuilder</a:t>
            </a:r>
            <a:r>
              <a:rPr lang="en-US" altLang="ko-KR" sz="1400" dirty="0"/>
              <a:t>&gt;</a:t>
            </a:r>
            <a:endParaRPr lang="ko-KR" altLang="en-U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22D65C-DBD5-F68C-FE01-E1D64ED8BF40}"/>
              </a:ext>
            </a:extLst>
          </p:cNvPr>
          <p:cNvSpPr txBox="1"/>
          <p:nvPr/>
        </p:nvSpPr>
        <p:spPr>
          <a:xfrm>
            <a:off x="5135607" y="5053039"/>
            <a:ext cx="19207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&lt;</a:t>
            </a:r>
            <a:r>
              <a:rPr lang="en-US" altLang="ko-KR" sz="1400" dirty="0" err="1"/>
              <a:t>ChatNPCManager</a:t>
            </a:r>
            <a:r>
              <a:rPr lang="en-US" altLang="ko-KR" sz="1400" dirty="0"/>
              <a:t>&gt;</a:t>
            </a:r>
            <a:endParaRPr lang="ko-KR" alt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56BECA-50C2-06B6-AAFD-913D75CD324B}"/>
              </a:ext>
            </a:extLst>
          </p:cNvPr>
          <p:cNvSpPr txBox="1"/>
          <p:nvPr/>
        </p:nvSpPr>
        <p:spPr>
          <a:xfrm>
            <a:off x="8948755" y="5000916"/>
            <a:ext cx="1588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</a:t>
            </a:r>
            <a:r>
              <a:rPr lang="en-US" altLang="ko-KR" dirty="0" err="1"/>
              <a:t>ServerChat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FB4DEC-68A2-2B81-A30C-77337D1F0121}"/>
              </a:ext>
            </a:extLst>
          </p:cNvPr>
          <p:cNvSpPr txBox="1"/>
          <p:nvPr/>
        </p:nvSpPr>
        <p:spPr>
          <a:xfrm>
            <a:off x="494748" y="5590166"/>
            <a:ext cx="91156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/>
              <a:t>프롬프트 생성 후 </a:t>
            </a:r>
            <a:r>
              <a:rPr lang="en-US" altLang="ko-KR" dirty="0"/>
              <a:t>AI </a:t>
            </a:r>
            <a:r>
              <a:rPr lang="ko-KR" altLang="en-US" dirty="0"/>
              <a:t>응답 요청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대화 결과를 </a:t>
            </a:r>
            <a:r>
              <a:rPr lang="en-US" altLang="ko-KR" dirty="0"/>
              <a:t>UI</a:t>
            </a:r>
            <a:r>
              <a:rPr lang="ko-KR" altLang="en-US" dirty="0"/>
              <a:t>에 출력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370DE28-332B-7530-5D98-4EF9067EF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555" y="1590274"/>
            <a:ext cx="3091786" cy="311840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F0D7D07-4977-FCDA-FDEE-B2F849BF4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696" y="1590274"/>
            <a:ext cx="2924608" cy="311840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4526C4D-6A13-A673-1509-939E955C6D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0659" y="1590275"/>
            <a:ext cx="2924608" cy="3118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4479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C4828-BCB7-0AA0-AA03-169D9CA08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29942F-5D05-FFA2-E3BE-E75CC7CEC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78EEA0-7EF1-E94D-067B-01901C27A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NPC Talking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AF952D-04FC-138B-5CE3-265144EDAAC3}"/>
              </a:ext>
            </a:extLst>
          </p:cNvPr>
          <p:cNvSpPr txBox="1"/>
          <p:nvPr/>
        </p:nvSpPr>
        <p:spPr>
          <a:xfrm>
            <a:off x="1029674" y="1529759"/>
            <a:ext cx="4493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</a:t>
            </a:r>
            <a:r>
              <a:rPr lang="ko-KR" altLang="en-US" dirty="0"/>
              <a:t>예시</a:t>
            </a:r>
            <a:r>
              <a:rPr lang="en-US" altLang="ko-KR" dirty="0"/>
              <a:t>) </a:t>
            </a:r>
            <a:r>
              <a:rPr lang="ko-KR" altLang="en-US" dirty="0"/>
              <a:t>기억 설정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982A69CB-5FD0-EF10-58CF-9B5FBE5C1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8904" y="4143989"/>
            <a:ext cx="4493422" cy="1721808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C55A42E4-BA4B-182E-9F0D-C033F8BF82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674" y="4143989"/>
            <a:ext cx="4493422" cy="1721808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0554288C-CAB5-14F7-BA9B-A67BD72131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674" y="1970395"/>
            <a:ext cx="4493422" cy="172180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06C2DD8-4B67-6993-44C6-452A1375C3D0}"/>
              </a:ext>
            </a:extLst>
          </p:cNvPr>
          <p:cNvSpPr txBox="1"/>
          <p:nvPr/>
        </p:nvSpPr>
        <p:spPr>
          <a:xfrm>
            <a:off x="6668904" y="1508860"/>
            <a:ext cx="4493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</a:t>
            </a:r>
            <a:r>
              <a:rPr lang="ko-KR" altLang="en-US" dirty="0"/>
              <a:t>예시</a:t>
            </a:r>
            <a:r>
              <a:rPr lang="en-US" altLang="ko-KR" dirty="0"/>
              <a:t>) </a:t>
            </a:r>
            <a:r>
              <a:rPr lang="ko-KR" altLang="en-US" dirty="0"/>
              <a:t>힌트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D2E2737C-4F13-895C-BDFB-587CAE901A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8904" y="1970395"/>
            <a:ext cx="4493422" cy="1721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1197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707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슬레이트">
  <a:themeElements>
    <a:clrScheme name="슬레이트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슬레이트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슬레이트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TM04033929[[fn=슬레이트]]</Template>
  <TotalTime>581</TotalTime>
  <Words>674</Words>
  <Application>Microsoft Office PowerPoint</Application>
  <PresentationFormat>와이드스크린</PresentationFormat>
  <Paragraphs>221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9" baseType="lpstr">
      <vt:lpstr>프리젠테이션 3 Light</vt:lpstr>
      <vt:lpstr>프리젠테이션 4 Regular</vt:lpstr>
      <vt:lpstr>Arial</vt:lpstr>
      <vt:lpstr>Wingdings 2</vt:lpstr>
      <vt:lpstr>슬레이트</vt:lpstr>
      <vt:lpstr>Title</vt:lpstr>
      <vt:lpstr>Contents</vt:lpstr>
      <vt:lpstr>Team Profile</vt:lpstr>
      <vt:lpstr>Team Profile</vt:lpstr>
      <vt:lpstr>Schedule</vt:lpstr>
      <vt:lpstr>Project Proposal</vt:lpstr>
      <vt:lpstr>Control</vt:lpstr>
      <vt:lpstr>Scenario</vt:lpstr>
      <vt:lpstr>Puzzles</vt:lpstr>
      <vt:lpstr>Sound</vt:lpstr>
      <vt:lpstr>Art</vt:lpstr>
      <vt:lpstr>Programming</vt:lpstr>
      <vt:lpstr>Puzzle 1 – 슬라이딩 로직</vt:lpstr>
      <vt:lpstr>Puzzle 1 – 별 수집 &amp; 맞히기</vt:lpstr>
      <vt:lpstr>Puzzle 4 – 발판 동작 판정</vt:lpstr>
      <vt:lpstr>Puzzle 4 – 100% 완료 여부 계산</vt:lpstr>
      <vt:lpstr>Save – Lode</vt:lpstr>
      <vt:lpstr>Save – Lode</vt:lpstr>
      <vt:lpstr>Save – Lode</vt:lpstr>
      <vt:lpstr>Ending Condition</vt:lpstr>
      <vt:lpstr>AI</vt:lpstr>
      <vt:lpstr>AI</vt:lpstr>
      <vt:lpstr>AI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성혁 우</dc:creator>
  <cp:lastModifiedBy>남해 김</cp:lastModifiedBy>
  <cp:revision>43</cp:revision>
  <dcterms:created xsi:type="dcterms:W3CDTF">2026-04-16T01:10:07Z</dcterms:created>
  <dcterms:modified xsi:type="dcterms:W3CDTF">2026-04-16T11:34:36Z</dcterms:modified>
</cp:coreProperties>
</file>