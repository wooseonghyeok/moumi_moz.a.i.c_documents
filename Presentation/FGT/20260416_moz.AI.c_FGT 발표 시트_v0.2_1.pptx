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75" r:id="rId5"/>
    <p:sldId id="265" r:id="rId6"/>
    <p:sldId id="266" r:id="rId7"/>
    <p:sldId id="274" r:id="rId8"/>
    <p:sldId id="258" r:id="rId9"/>
    <p:sldId id="267" r:id="rId10"/>
    <p:sldId id="260" r:id="rId11"/>
    <p:sldId id="262" r:id="rId12"/>
    <p:sldId id="261" r:id="rId13"/>
    <p:sldId id="276" r:id="rId14"/>
    <p:sldId id="277" r:id="rId15"/>
    <p:sldId id="272" r:id="rId16"/>
    <p:sldId id="273" r:id="rId17"/>
    <p:sldId id="268" r:id="rId18"/>
    <p:sldId id="269" r:id="rId19"/>
    <p:sldId id="270" r:id="rId20"/>
    <p:sldId id="271" r:id="rId21"/>
    <p:sldId id="259" r:id="rId22"/>
    <p:sldId id="278" r:id="rId23"/>
    <p:sldId id="279" r:id="rId24"/>
    <p:sldId id="26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24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91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6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73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9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4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93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82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3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96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70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549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379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36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040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92203"/>
            <a:ext cx="12192001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5999" y="648440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25C42CB7-540C-4C4E-9FCE-847549FA35C6}" type="datetimeFigureOut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84407"/>
            <a:ext cx="90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2000" y="648440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C8B6B34A-2030-46B4-8F0B-F43AE4293C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4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4 Regular" pitchFamily="2" charset="-127"/>
          <a:ea typeface="프리젠테이션 4 Regular" pitchFamily="2" charset="-127"/>
          <a:cs typeface="프리젠테이션 4 Regular" pitchFamily="2" charset="-127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26878-4B32-46A8-AF3B-DCEF84674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Moz.A.I.c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4C2ED-978E-4C96-A4CA-936A6CB6E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Team </a:t>
            </a:r>
            <a:r>
              <a:rPr lang="ko-KR" altLang="en-US" dirty="0" err="1"/>
              <a:t>모으미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7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E0B12-7B22-40C6-92F7-8DEE5DF6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1F479-2BE3-43B0-99B3-F6419A63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00" y="992203"/>
            <a:ext cx="3600000" cy="5400000"/>
          </a:xfrm>
        </p:spPr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Schedule</a:t>
            </a:r>
          </a:p>
          <a:p>
            <a:r>
              <a:rPr lang="en-US" altLang="ko-KR" dirty="0"/>
              <a:t>Game Proposal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16F20B9-172E-4A30-ACAA-1403F8974FE6}"/>
              </a:ext>
            </a:extLst>
          </p:cNvPr>
          <p:cNvSpPr txBox="1">
            <a:spLocks/>
          </p:cNvSpPr>
          <p:nvPr/>
        </p:nvSpPr>
        <p:spPr>
          <a:xfrm>
            <a:off x="4296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Scenario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Art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Cutscenes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5671C62-231F-42C3-BA2D-484B7FC31A20}"/>
              </a:ext>
            </a:extLst>
          </p:cNvPr>
          <p:cNvSpPr txBox="1">
            <a:spLocks/>
          </p:cNvSpPr>
          <p:nvPr/>
        </p:nvSpPr>
        <p:spPr>
          <a:xfrm>
            <a:off x="8360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Programming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Sliding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Star Collect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Space View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Painting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Jump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Cube Coloring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97807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E4B6413-ECC7-4D06-91DC-01747C01CCBF}"/>
              </a:ext>
            </a:extLst>
          </p:cNvPr>
          <p:cNvSpPr/>
          <p:nvPr/>
        </p:nvSpPr>
        <p:spPr>
          <a:xfrm>
            <a:off x="600065" y="2076471"/>
            <a:ext cx="2196000" cy="2916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4D090-CD8A-424E-9430-D1842450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000" y="992203"/>
            <a:ext cx="9000000" cy="5400000"/>
          </a:xfrm>
        </p:spPr>
        <p:txBody>
          <a:bodyPr/>
          <a:lstStyle/>
          <a:p>
            <a:r>
              <a:rPr lang="ko-KR" altLang="en-US" dirty="0"/>
              <a:t>담당 직무</a:t>
            </a:r>
            <a:r>
              <a:rPr lang="en-US" altLang="ko-KR" dirty="0"/>
              <a:t>: </a:t>
            </a:r>
            <a:r>
              <a:rPr lang="ko-KR" altLang="en-US" dirty="0"/>
              <a:t>기획 </a:t>
            </a:r>
            <a:r>
              <a:rPr lang="en-US" altLang="ko-KR" dirty="0"/>
              <a:t>/ </a:t>
            </a:r>
            <a:r>
              <a:rPr lang="ko-KR" altLang="en-US" dirty="0"/>
              <a:t>팀장</a:t>
            </a:r>
            <a:endParaRPr lang="en-US" altLang="ko-KR" dirty="0"/>
          </a:p>
          <a:p>
            <a:r>
              <a:rPr lang="ko-KR" altLang="en-US" dirty="0"/>
              <a:t>오프닝 </a:t>
            </a:r>
            <a:r>
              <a:rPr lang="en-US" altLang="ko-KR" dirty="0"/>
              <a:t>/ </a:t>
            </a:r>
            <a:r>
              <a:rPr lang="ko-KR" altLang="en-US" dirty="0"/>
              <a:t>에피소드 </a:t>
            </a:r>
            <a:r>
              <a:rPr lang="en-US" altLang="ko-KR" dirty="0"/>
              <a:t>4 / </a:t>
            </a:r>
            <a:r>
              <a:rPr lang="ko-KR" altLang="en-US" dirty="0"/>
              <a:t>엔딩 신</a:t>
            </a:r>
            <a:r>
              <a:rPr lang="en-US" altLang="ko-KR" dirty="0"/>
              <a:t> </a:t>
            </a:r>
            <a:r>
              <a:rPr lang="ko-KR" altLang="en-US" dirty="0"/>
              <a:t>제작</a:t>
            </a:r>
            <a:endParaRPr lang="en-US" altLang="ko-KR" dirty="0"/>
          </a:p>
          <a:p>
            <a:r>
              <a:rPr lang="ko-KR" altLang="en-US" dirty="0"/>
              <a:t>기본 기능 기획 및 관리</a:t>
            </a:r>
            <a:endParaRPr lang="en-US" altLang="ko-KR" dirty="0"/>
          </a:p>
          <a:p>
            <a:pPr lvl="1"/>
            <a:r>
              <a:rPr lang="ko-KR" altLang="en-US" dirty="0"/>
              <a:t>게임플레이 전체 플로우 구성</a:t>
            </a:r>
            <a:endParaRPr lang="en-US" altLang="ko-KR" dirty="0"/>
          </a:p>
          <a:p>
            <a:pPr lvl="1"/>
            <a:r>
              <a:rPr lang="ko-KR" altLang="en-US" dirty="0"/>
              <a:t>데이터 저장 </a:t>
            </a:r>
            <a:r>
              <a:rPr lang="en-US" altLang="ko-KR" dirty="0"/>
              <a:t>/ </a:t>
            </a:r>
            <a:r>
              <a:rPr lang="ko-KR" altLang="en-US" dirty="0"/>
              <a:t>불러오기</a:t>
            </a:r>
            <a:endParaRPr lang="en-US" altLang="ko-KR" dirty="0"/>
          </a:p>
          <a:p>
            <a:pPr lvl="1"/>
            <a:r>
              <a:rPr lang="ko-KR" altLang="en-US" dirty="0"/>
              <a:t>엔딩 조건 점수 및 태그 누적</a:t>
            </a:r>
            <a:endParaRPr lang="en-US" altLang="ko-KR" dirty="0"/>
          </a:p>
          <a:p>
            <a:r>
              <a:rPr lang="ko-KR" altLang="en-US" dirty="0"/>
              <a:t>작업 버전 관리 </a:t>
            </a:r>
            <a:endParaRPr lang="en-US" altLang="ko-KR" dirty="0"/>
          </a:p>
          <a:p>
            <a:pPr lvl="1"/>
            <a:r>
              <a:rPr lang="ko-KR" altLang="en-US" dirty="0"/>
              <a:t>개별 작업 병합 후 충돌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1D3BBF-BDBE-453F-862B-01F60B184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65" y="2094471"/>
            <a:ext cx="2160000" cy="28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AF74DF-3949-470A-889A-ACC3C2930BE7}"/>
              </a:ext>
            </a:extLst>
          </p:cNvPr>
          <p:cNvSpPr txBox="1"/>
          <p:nvPr/>
        </p:nvSpPr>
        <p:spPr>
          <a:xfrm>
            <a:off x="1172921" y="4974471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&lt;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우성혁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&gt;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589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24E2-F3FD-F037-55B7-BB516141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0A961B-A255-12BF-7DDC-1F4E74F9F43F}"/>
              </a:ext>
            </a:extLst>
          </p:cNvPr>
          <p:cNvSpPr/>
          <p:nvPr/>
        </p:nvSpPr>
        <p:spPr>
          <a:xfrm>
            <a:off x="600065" y="2076471"/>
            <a:ext cx="2196000" cy="2916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CA1A8D-2C5F-4104-B0B4-ACBAA0D5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39E0A7-D737-4551-056C-53F186D60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000" y="992203"/>
            <a:ext cx="9000000" cy="5400000"/>
          </a:xfrm>
        </p:spPr>
        <p:txBody>
          <a:bodyPr/>
          <a:lstStyle/>
          <a:p>
            <a:r>
              <a:rPr lang="ko-KR" altLang="en-US" dirty="0"/>
              <a:t>담당 직무</a:t>
            </a:r>
            <a:r>
              <a:rPr lang="en-US" altLang="ko-KR" dirty="0"/>
              <a:t>: </a:t>
            </a:r>
            <a:r>
              <a:rPr lang="ko-KR" altLang="en-US" dirty="0"/>
              <a:t>개발</a:t>
            </a:r>
            <a:endParaRPr lang="en-US" altLang="ko-KR" dirty="0"/>
          </a:p>
          <a:p>
            <a:r>
              <a:rPr lang="ko-KR" altLang="en-US" dirty="0"/>
              <a:t>플레이어 이동 </a:t>
            </a:r>
            <a:r>
              <a:rPr lang="en-US" altLang="ko-KR" dirty="0"/>
              <a:t>/ </a:t>
            </a:r>
            <a:r>
              <a:rPr lang="ko-KR" altLang="en-US" dirty="0"/>
              <a:t>에피소드 </a:t>
            </a:r>
            <a:r>
              <a:rPr lang="en-US" altLang="ko-KR" dirty="0"/>
              <a:t>1 / AI NPC </a:t>
            </a:r>
            <a:r>
              <a:rPr lang="ko-KR" altLang="en-US" dirty="0"/>
              <a:t>대화 기능</a:t>
            </a:r>
            <a:endParaRPr lang="en-US" altLang="ko-KR" dirty="0"/>
          </a:p>
          <a:p>
            <a:r>
              <a:rPr lang="ko-KR" altLang="en-US" dirty="0"/>
              <a:t>기본 기능 구현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인칭 시점 기반 플레이어 이동 시스템 구현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대화 흐름 구성</a:t>
            </a:r>
            <a:endParaRPr lang="en-US" altLang="ko-KR" dirty="0"/>
          </a:p>
          <a:p>
            <a:pPr lvl="1"/>
            <a:r>
              <a:rPr lang="en-US" altLang="ko-KR" dirty="0"/>
              <a:t>JSON </a:t>
            </a:r>
            <a:r>
              <a:rPr lang="ko-KR" altLang="en-US" dirty="0"/>
              <a:t>기반 데이터 관리 </a:t>
            </a:r>
            <a:r>
              <a:rPr lang="en-US" altLang="ko-KR" dirty="0"/>
              <a:t>&amp; </a:t>
            </a:r>
            <a:r>
              <a:rPr lang="ko-KR" altLang="en-US" dirty="0"/>
              <a:t>데이터베이스에서 필요한 정보 통합 로드 </a:t>
            </a:r>
            <a:endParaRPr lang="en-US" altLang="ko-KR" dirty="0"/>
          </a:p>
          <a:p>
            <a:pPr lvl="1"/>
            <a:r>
              <a:rPr lang="ko-KR" altLang="en-US" dirty="0"/>
              <a:t>프롬프트 생성 후 </a:t>
            </a:r>
            <a:r>
              <a:rPr lang="en-US" altLang="ko-KR" dirty="0"/>
              <a:t>AI </a:t>
            </a:r>
            <a:r>
              <a:rPr lang="ko-KR" altLang="en-US" dirty="0"/>
              <a:t>응답 요청</a:t>
            </a:r>
            <a:endParaRPr lang="en-US" altLang="ko-KR" dirty="0"/>
          </a:p>
          <a:p>
            <a:pPr lvl="1"/>
            <a:r>
              <a:rPr lang="ko-KR" altLang="en-US" dirty="0"/>
              <a:t>대화 결과를 </a:t>
            </a:r>
            <a:r>
              <a:rPr lang="en-US" altLang="ko-KR" dirty="0"/>
              <a:t>UI</a:t>
            </a:r>
            <a:r>
              <a:rPr lang="ko-KR" altLang="en-US" dirty="0"/>
              <a:t>에 출력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54289-0BE4-7DD9-F329-C800A048F88C}"/>
              </a:ext>
            </a:extLst>
          </p:cNvPr>
          <p:cNvSpPr txBox="1"/>
          <p:nvPr/>
        </p:nvSpPr>
        <p:spPr>
          <a:xfrm>
            <a:off x="1097579" y="4974471"/>
            <a:ext cx="12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&lt;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김남해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&gt;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353DA8-BCD1-E6DB-1215-312D52F22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37" y="2112891"/>
            <a:ext cx="2114854" cy="282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6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30DE42FA-D15E-45B0-A31D-31F9E04D7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218437"/>
              </p:ext>
            </p:extLst>
          </p:nvPr>
        </p:nvGraphicFramePr>
        <p:xfrm>
          <a:off x="426000" y="992188"/>
          <a:ext cx="11340000" cy="5410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sun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mon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tue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wed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thu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fri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Sat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Schedule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818D747-51B1-4E5B-9155-203E5154BEFC}"/>
              </a:ext>
            </a:extLst>
          </p:cNvPr>
          <p:cNvSpPr/>
          <p:nvPr/>
        </p:nvSpPr>
        <p:spPr>
          <a:xfrm>
            <a:off x="9271000" y="5863042"/>
            <a:ext cx="873516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BD896D-5D9E-4E86-87BC-C1C8481F005C}"/>
              </a:ext>
            </a:extLst>
          </p:cNvPr>
          <p:cNvSpPr/>
          <p:nvPr/>
        </p:nvSpPr>
        <p:spPr>
          <a:xfrm>
            <a:off x="425999" y="3654454"/>
            <a:ext cx="6474333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40177A-4477-41D8-9293-B950D4BC0D57}"/>
              </a:ext>
            </a:extLst>
          </p:cNvPr>
          <p:cNvSpPr/>
          <p:nvPr/>
        </p:nvSpPr>
        <p:spPr>
          <a:xfrm>
            <a:off x="425999" y="2885527"/>
            <a:ext cx="11339999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349750-A64D-4AC2-9410-8937E8B3DBD4}"/>
              </a:ext>
            </a:extLst>
          </p:cNvPr>
          <p:cNvSpPr/>
          <p:nvPr/>
        </p:nvSpPr>
        <p:spPr>
          <a:xfrm>
            <a:off x="2065867" y="1658128"/>
            <a:ext cx="4834466" cy="216000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Design Proposal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171AAD-3E49-487C-8496-AD5A63CF5F67}"/>
              </a:ext>
            </a:extLst>
          </p:cNvPr>
          <p:cNvSpPr/>
          <p:nvPr/>
        </p:nvSpPr>
        <p:spPr>
          <a:xfrm>
            <a:off x="2065867" y="1893595"/>
            <a:ext cx="9698566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B1302E9-66EB-4A0B-9A12-12B293B74682}"/>
              </a:ext>
            </a:extLst>
          </p:cNvPr>
          <p:cNvSpPr/>
          <p:nvPr/>
        </p:nvSpPr>
        <p:spPr>
          <a:xfrm>
            <a:off x="2065867" y="2129915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D2E6FCD-F43C-47DB-8D70-A86BD7F814B0}"/>
              </a:ext>
            </a:extLst>
          </p:cNvPr>
          <p:cNvSpPr/>
          <p:nvPr/>
        </p:nvSpPr>
        <p:spPr>
          <a:xfrm>
            <a:off x="425999" y="2646930"/>
            <a:ext cx="6474334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F13807D-A55D-43F8-B8F5-E821A2839914}"/>
              </a:ext>
            </a:extLst>
          </p:cNvPr>
          <p:cNvSpPr/>
          <p:nvPr/>
        </p:nvSpPr>
        <p:spPr>
          <a:xfrm>
            <a:off x="5290100" y="3879736"/>
            <a:ext cx="6474333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F18601-085E-43AA-87F7-74FF1A3557DF}"/>
              </a:ext>
            </a:extLst>
          </p:cNvPr>
          <p:cNvSpPr/>
          <p:nvPr/>
        </p:nvSpPr>
        <p:spPr>
          <a:xfrm>
            <a:off x="425998" y="4639518"/>
            <a:ext cx="8099935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4BC9455-7F28-4B58-A5F5-4E1BBA2D4963}"/>
              </a:ext>
            </a:extLst>
          </p:cNvPr>
          <p:cNvSpPr/>
          <p:nvPr/>
        </p:nvSpPr>
        <p:spPr>
          <a:xfrm>
            <a:off x="8525933" y="4864800"/>
            <a:ext cx="3237167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9C40770-DDBC-4202-93E6-06654D1E5E45}"/>
              </a:ext>
            </a:extLst>
          </p:cNvPr>
          <p:cNvSpPr/>
          <p:nvPr/>
        </p:nvSpPr>
        <p:spPr>
          <a:xfrm>
            <a:off x="425998" y="5647042"/>
            <a:ext cx="8845002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CAD0B4DA-146A-4CE0-BD9D-5A960958BF92}"/>
              </a:ext>
            </a:extLst>
          </p:cNvPr>
          <p:cNvSpPr/>
          <p:nvPr/>
        </p:nvSpPr>
        <p:spPr>
          <a:xfrm>
            <a:off x="10466054" y="5714751"/>
            <a:ext cx="978408" cy="484632"/>
          </a:xfrm>
          <a:prstGeom prst="rightArrow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2"/>
                </a:solidFill>
                <a:latin typeface="프리젠테이션 3 Light" pitchFamily="2" charset="-127"/>
                <a:ea typeface="프리젠테이션 3 Light" pitchFamily="2" charset="-127"/>
              </a:rPr>
              <a:t>~4.29</a:t>
            </a:r>
            <a:endParaRPr lang="ko-KR" altLang="en-US" sz="1200" dirty="0">
              <a:solidFill>
                <a:schemeClr val="tx2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561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Proposal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DA6B55C-F9AE-4B1F-A4C8-CFDA70813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393476"/>
              </p:ext>
            </p:extLst>
          </p:nvPr>
        </p:nvGraphicFramePr>
        <p:xfrm>
          <a:off x="1416000" y="1241108"/>
          <a:ext cx="9360000" cy="398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88253159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83419641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027253095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61312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팀명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93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79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이용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189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6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9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04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334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50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64B730F-6AB0-41D4-A72A-C128D0ECF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001500" y="1629000"/>
            <a:ext cx="10189000" cy="3600000"/>
          </a:xfrm>
          <a:prstGeom prst="rect">
            <a:avLst/>
          </a:prstGeom>
        </p:spPr>
      </p:pic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74E6072-900F-46F5-91C0-B0CD74E08BA8}"/>
              </a:ext>
            </a:extLst>
          </p:cNvPr>
          <p:cNvSpPr/>
          <p:nvPr/>
        </p:nvSpPr>
        <p:spPr>
          <a:xfrm>
            <a:off x="2195479" y="2844176"/>
            <a:ext cx="1515534" cy="1024467"/>
          </a:xfrm>
          <a:custGeom>
            <a:avLst/>
            <a:gdLst>
              <a:gd name="connsiteX0" fmla="*/ 355600 w 1515534"/>
              <a:gd name="connsiteY0" fmla="*/ 0 h 1024467"/>
              <a:gd name="connsiteX1" fmla="*/ 897466 w 1515534"/>
              <a:gd name="connsiteY1" fmla="*/ 0 h 1024467"/>
              <a:gd name="connsiteX2" fmla="*/ 897466 w 1515534"/>
              <a:gd name="connsiteY2" fmla="*/ 491068 h 1024467"/>
              <a:gd name="connsiteX3" fmla="*/ 1515534 w 1515534"/>
              <a:gd name="connsiteY3" fmla="*/ 491068 h 1024467"/>
              <a:gd name="connsiteX4" fmla="*/ 1515534 w 1515534"/>
              <a:gd name="connsiteY4" fmla="*/ 1024467 h 1024467"/>
              <a:gd name="connsiteX5" fmla="*/ 0 w 1515534"/>
              <a:gd name="connsiteY5" fmla="*/ 1024467 h 1024467"/>
              <a:gd name="connsiteX6" fmla="*/ 0 w 1515534"/>
              <a:gd name="connsiteY6" fmla="*/ 491068 h 1024467"/>
              <a:gd name="connsiteX7" fmla="*/ 355600 w 1515534"/>
              <a:gd name="connsiteY7" fmla="*/ 491068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5534" h="1024467">
                <a:moveTo>
                  <a:pt x="355600" y="0"/>
                </a:moveTo>
                <a:lnTo>
                  <a:pt x="897466" y="0"/>
                </a:lnTo>
                <a:lnTo>
                  <a:pt x="897466" y="491068"/>
                </a:lnTo>
                <a:lnTo>
                  <a:pt x="1515534" y="491068"/>
                </a:lnTo>
                <a:lnTo>
                  <a:pt x="1515534" y="1024467"/>
                </a:lnTo>
                <a:lnTo>
                  <a:pt x="0" y="1024467"/>
                </a:lnTo>
                <a:lnTo>
                  <a:pt x="0" y="491068"/>
                </a:lnTo>
                <a:lnTo>
                  <a:pt x="355600" y="491068"/>
                </a:lnTo>
                <a:close/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DDC4A-0689-4624-9827-6400E40F5C45}"/>
              </a:ext>
            </a:extLst>
          </p:cNvPr>
          <p:cNvSpPr txBox="1"/>
          <p:nvPr/>
        </p:nvSpPr>
        <p:spPr>
          <a:xfrm>
            <a:off x="2441488" y="5373636"/>
            <a:ext cx="1515534" cy="584775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이동</a:t>
            </a:r>
            <a:endParaRPr lang="en-US" altLang="ko-KR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앞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뒤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좌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우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C20794A-6B43-4C31-B7DC-140FD2DA70B3}"/>
              </a:ext>
            </a:extLst>
          </p:cNvPr>
          <p:cNvSpPr/>
          <p:nvPr/>
        </p:nvSpPr>
        <p:spPr>
          <a:xfrm>
            <a:off x="9682608" y="2086010"/>
            <a:ext cx="395986" cy="3959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082B1-FEFD-4735-AA11-B97BFD18BF96}"/>
              </a:ext>
            </a:extLst>
          </p:cNvPr>
          <p:cNvSpPr txBox="1"/>
          <p:nvPr/>
        </p:nvSpPr>
        <p:spPr>
          <a:xfrm>
            <a:off x="9386292" y="1178312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UI 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클릭</a:t>
            </a:r>
          </a:p>
        </p:txBody>
      </p:sp>
      <p:cxnSp>
        <p:nvCxnSpPr>
          <p:cNvPr id="11" name="연결선: 꺾임 60">
            <a:extLst>
              <a:ext uri="{FF2B5EF4-FFF2-40B4-BE49-F238E27FC236}">
                <a16:creationId xmlns:a16="http://schemas.microsoft.com/office/drawing/2014/main" id="{3D50E7CE-56FA-4F15-9909-D6AA8CA157C6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9880601" y="1516866"/>
            <a:ext cx="0" cy="569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8A3FB76-EA02-4D6D-83E8-8DE3FEE78667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199255" y="3868643"/>
            <a:ext cx="6851" cy="150499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6AEAF9-4A11-44D6-B53D-D6C8F90599D0}"/>
              </a:ext>
            </a:extLst>
          </p:cNvPr>
          <p:cNvSpPr/>
          <p:nvPr/>
        </p:nvSpPr>
        <p:spPr>
          <a:xfrm>
            <a:off x="1278467" y="3881966"/>
            <a:ext cx="1143000" cy="4572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6A930F-A36E-45E3-B225-B195E112B4CF}"/>
              </a:ext>
            </a:extLst>
          </p:cNvPr>
          <p:cNvSpPr txBox="1"/>
          <p:nvPr/>
        </p:nvSpPr>
        <p:spPr>
          <a:xfrm>
            <a:off x="1312334" y="5348406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달리기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EFA1BE3-0DD3-4E01-AA3E-7166BA0EEDC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769534" y="4339166"/>
            <a:ext cx="0" cy="100924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185396-4C45-4CCE-946E-120C54188847}"/>
              </a:ext>
            </a:extLst>
          </p:cNvPr>
          <p:cNvSpPr/>
          <p:nvPr/>
        </p:nvSpPr>
        <p:spPr>
          <a:xfrm>
            <a:off x="3513834" y="4397404"/>
            <a:ext cx="2556000" cy="533399"/>
          </a:xfrm>
          <a:prstGeom prst="rect">
            <a:avLst/>
          </a:prstGeom>
          <a:noFill/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14E5B-545D-4FB8-8754-2B008CFE28FF}"/>
              </a:ext>
            </a:extLst>
          </p:cNvPr>
          <p:cNvSpPr txBox="1"/>
          <p:nvPr/>
        </p:nvSpPr>
        <p:spPr>
          <a:xfrm>
            <a:off x="4334634" y="5373636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점프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CC8B72E-3DB2-464D-9EBF-804DF6C29533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4791834" y="4930803"/>
            <a:ext cx="0" cy="442833"/>
          </a:xfrm>
          <a:prstGeom prst="straightConnector1">
            <a:avLst/>
          </a:prstGeom>
          <a:ln w="38100">
            <a:solidFill>
              <a:srgbClr val="00A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화살표: 왼쪽/오른쪽/위쪽/아래쪽 18">
            <a:extLst>
              <a:ext uri="{FF2B5EF4-FFF2-40B4-BE49-F238E27FC236}">
                <a16:creationId xmlns:a16="http://schemas.microsoft.com/office/drawing/2014/main" id="{AB9F7A79-7778-40BA-95BF-C2D582FB43E2}"/>
              </a:ext>
            </a:extLst>
          </p:cNvPr>
          <p:cNvSpPr/>
          <p:nvPr/>
        </p:nvSpPr>
        <p:spPr>
          <a:xfrm>
            <a:off x="9686210" y="2911608"/>
            <a:ext cx="1080000" cy="1080000"/>
          </a:xfrm>
          <a:prstGeom prst="quadArrow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C3AD44-61B4-4320-8948-73BAAA0438CD}"/>
              </a:ext>
            </a:extLst>
          </p:cNvPr>
          <p:cNvSpPr txBox="1"/>
          <p:nvPr/>
        </p:nvSpPr>
        <p:spPr>
          <a:xfrm>
            <a:off x="9618135" y="5347456"/>
            <a:ext cx="121615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시야 회전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6E0D035-3909-41A3-A078-842AC83E2DA9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10226210" y="3991608"/>
            <a:ext cx="0" cy="13558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390809-9948-4B78-AB4E-2763EECE05B4}"/>
              </a:ext>
            </a:extLst>
          </p:cNvPr>
          <p:cNvSpPr/>
          <p:nvPr/>
        </p:nvSpPr>
        <p:spPr>
          <a:xfrm>
            <a:off x="3114118" y="2844176"/>
            <a:ext cx="468000" cy="468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4205B-936A-419C-AA74-B98F16868AA4}"/>
              </a:ext>
            </a:extLst>
          </p:cNvPr>
          <p:cNvSpPr txBox="1"/>
          <p:nvPr/>
        </p:nvSpPr>
        <p:spPr>
          <a:xfrm>
            <a:off x="2719245" y="1178312"/>
            <a:ext cx="1257746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상호작용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5051826-E27F-4DE4-9B3F-67061E059B1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3348118" y="1516866"/>
            <a:ext cx="0" cy="132731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45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Scenario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Episode 0. </a:t>
            </a:r>
            <a:r>
              <a:rPr lang="ko-KR" altLang="en-US" dirty="0"/>
              <a:t>미지로의 발돋움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잊어버린</a:t>
            </a:r>
            <a:r>
              <a:rPr lang="ko-KR" altLang="en-US" dirty="0"/>
              <a:t> 나의 세계와 마주하는 프롤로그</a:t>
            </a:r>
            <a:endParaRPr lang="en-US" altLang="ko-KR" dirty="0"/>
          </a:p>
          <a:p>
            <a:r>
              <a:rPr lang="en-US" altLang="ko-KR" dirty="0"/>
              <a:t>Episode 1. </a:t>
            </a:r>
            <a:r>
              <a:rPr lang="ko-KR" altLang="en-US" dirty="0"/>
              <a:t>별을 헤는 소녀</a:t>
            </a:r>
            <a:endParaRPr lang="en-US" altLang="ko-KR" dirty="0"/>
          </a:p>
          <a:p>
            <a:pPr lvl="1"/>
            <a:r>
              <a:rPr lang="ko-KR" altLang="en-US" dirty="0"/>
              <a:t>어린</a:t>
            </a:r>
            <a:r>
              <a:rPr lang="en-US" altLang="ko-KR" dirty="0"/>
              <a:t> </a:t>
            </a:r>
            <a:r>
              <a:rPr lang="ko-KR" altLang="en-US" dirty="0"/>
              <a:t>시절의 </a:t>
            </a:r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기억</a:t>
            </a:r>
            <a:r>
              <a:rPr lang="ko-KR" altLang="en-US" dirty="0"/>
              <a:t>을 되찾는 첫 번째 이야기</a:t>
            </a:r>
            <a:endParaRPr lang="en-US" altLang="ko-KR" dirty="0"/>
          </a:p>
          <a:p>
            <a:r>
              <a:rPr lang="en-US" altLang="ko-KR" dirty="0"/>
              <a:t>Episode 2. </a:t>
            </a:r>
            <a:r>
              <a:rPr lang="ko-KR" altLang="en-US" dirty="0"/>
              <a:t>사라진 그림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색채</a:t>
            </a:r>
            <a:r>
              <a:rPr lang="ko-KR" altLang="en-US" dirty="0"/>
              <a:t>와 꿈을 되찾는 두 번째 이야기</a:t>
            </a:r>
            <a:endParaRPr lang="en-US" altLang="ko-KR" dirty="0"/>
          </a:p>
          <a:p>
            <a:r>
              <a:rPr lang="en-US" altLang="ko-KR" dirty="0"/>
              <a:t>Episode 3. </a:t>
            </a:r>
            <a:r>
              <a:rPr lang="ko-KR" altLang="en-US" dirty="0"/>
              <a:t>멈춰버린 노래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소리</a:t>
            </a:r>
            <a:r>
              <a:rPr lang="ko-KR" altLang="en-US" dirty="0"/>
              <a:t>와 연인에 대한 기억을 되찾는 세 번째 이야기</a:t>
            </a:r>
            <a:endParaRPr lang="en-US" altLang="ko-KR" dirty="0"/>
          </a:p>
          <a:p>
            <a:r>
              <a:rPr lang="en-US" altLang="ko-KR" dirty="0"/>
              <a:t>Episode 4. </a:t>
            </a:r>
            <a:r>
              <a:rPr lang="ko-KR" altLang="en-US" dirty="0"/>
              <a:t>뒤섞인 이야기</a:t>
            </a:r>
            <a:endParaRPr lang="en-US" altLang="ko-KR" dirty="0"/>
          </a:p>
          <a:p>
            <a:pPr lvl="1"/>
            <a:r>
              <a:rPr lang="ko-KR" altLang="en-US" dirty="0"/>
              <a:t>흩어진 기억과 </a:t>
            </a:r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자신</a:t>
            </a:r>
            <a:r>
              <a:rPr lang="ko-KR" altLang="en-US" dirty="0"/>
              <a:t>을 다시 하나로 잇는 마지막 이야기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7FAE2F-599A-42F5-ADB3-8600E97F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4578863"/>
            <a:ext cx="2160000" cy="14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9D2D0B-10E6-4437-8DBE-B4D413013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992203"/>
            <a:ext cx="2160000" cy="14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73C869-44A6-4B70-B253-DFF39F4E9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750" y="2785533"/>
            <a:ext cx="2160000" cy="144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C91003-75FD-4762-B3C7-802F7116CA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2785533"/>
            <a:ext cx="2160000" cy="14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5CF53B1-EF7A-45A1-AF43-AF221F78C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782" y="2785533"/>
            <a:ext cx="216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5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Puzzles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67" y="992203"/>
            <a:ext cx="5760000" cy="25920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Episode 1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F28F31C-9359-45F0-853A-4C7CA0C59031}"/>
              </a:ext>
            </a:extLst>
          </p:cNvPr>
          <p:cNvSpPr txBox="1">
            <a:spLocks/>
          </p:cNvSpPr>
          <p:nvPr/>
        </p:nvSpPr>
        <p:spPr>
          <a:xfrm>
            <a:off x="6239933" y="992203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2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924DF5F-FFBE-4322-A2B5-FE1A69A08E6B}"/>
              </a:ext>
            </a:extLst>
          </p:cNvPr>
          <p:cNvSpPr txBox="1">
            <a:spLocks/>
          </p:cNvSpPr>
          <p:nvPr/>
        </p:nvSpPr>
        <p:spPr>
          <a:xfrm>
            <a:off x="192067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3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A559C90-B985-4766-A837-A2825FC20D18}"/>
              </a:ext>
            </a:extLst>
          </p:cNvPr>
          <p:cNvSpPr txBox="1">
            <a:spLocks/>
          </p:cNvSpPr>
          <p:nvPr/>
        </p:nvSpPr>
        <p:spPr>
          <a:xfrm>
            <a:off x="6239933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4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0DF398-41E1-4C15-8F58-272B27C2D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1558927"/>
            <a:ext cx="2520000" cy="14246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D87F04D-DA30-478B-991A-7DAF71DF8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518" y="1562982"/>
            <a:ext cx="2520000" cy="14165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964BD4E-695E-4EA0-8F14-AEE3B0523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52" y="1563675"/>
            <a:ext cx="2520000" cy="14151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D9B843-5244-4727-ADEA-DA44B28A9C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4260300"/>
            <a:ext cx="2520000" cy="14161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302BB66-29B6-4CED-84FA-8881EB6864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652" y="4260300"/>
            <a:ext cx="2520000" cy="14242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12CDEDE-2FE6-4B15-A52B-DBF1F796F1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933" y="4259908"/>
            <a:ext cx="2520000" cy="14165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45945A-362E-419A-B111-3D0A08218050}"/>
              </a:ext>
            </a:extLst>
          </p:cNvPr>
          <p:cNvSpPr txBox="1"/>
          <p:nvPr/>
        </p:nvSpPr>
        <p:spPr>
          <a:xfrm>
            <a:off x="8025306" y="5768623"/>
            <a:ext cx="2406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발판 색을 맞추어 마지막 발판으로 건너가기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A7888-6D49-4EAC-8BA0-440205EE9C92}"/>
              </a:ext>
            </a:extLst>
          </p:cNvPr>
          <p:cNvSpPr txBox="1"/>
          <p:nvPr/>
        </p:nvSpPr>
        <p:spPr>
          <a:xfrm>
            <a:off x="3247064" y="3131151"/>
            <a:ext cx="2387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슬라이딩 전 별 수집 → 색깔 기억해 고르기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5DC11-0DD0-4829-BF6B-985F0BEA7B43}"/>
              </a:ext>
            </a:extLst>
          </p:cNvPr>
          <p:cNvSpPr txBox="1"/>
          <p:nvPr/>
        </p:nvSpPr>
        <p:spPr>
          <a:xfrm>
            <a:off x="501711" y="3131151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프리젠테이션 3 Light" pitchFamily="2" charset="-127"/>
                <a:ea typeface="프리젠테이션 3 Light" pitchFamily="2" charset="-127"/>
              </a:rPr>
              <a:t>기둥에서 방향을 바꾸며 빙판길 </a:t>
            </a:r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슬라이딩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A47F1D-59EF-4245-9F0F-C58D22839A79}"/>
              </a:ext>
            </a:extLst>
          </p:cNvPr>
          <p:cNvSpPr txBox="1"/>
          <p:nvPr/>
        </p:nvSpPr>
        <p:spPr>
          <a:xfrm>
            <a:off x="6765984" y="3131151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색을 혼합해 같은 색 발판에 착지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4B122-7AD9-4272-A524-A324ADFCFDDA}"/>
              </a:ext>
            </a:extLst>
          </p:cNvPr>
          <p:cNvSpPr txBox="1"/>
          <p:nvPr/>
        </p:nvSpPr>
        <p:spPr>
          <a:xfrm>
            <a:off x="9631558" y="3131151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시점 방향을 맞추어 조각 결합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A7D22D-EC65-437F-98AA-0B58ADFA54F7}"/>
              </a:ext>
            </a:extLst>
          </p:cNvPr>
          <p:cNvSpPr txBox="1"/>
          <p:nvPr/>
        </p:nvSpPr>
        <p:spPr>
          <a:xfrm>
            <a:off x="891240" y="5768624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소리 듣고 악보 조각 찾기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3065D-7BA2-4419-A1DA-86B4349F283D}"/>
              </a:ext>
            </a:extLst>
          </p:cNvPr>
          <p:cNvSpPr txBox="1"/>
          <p:nvPr/>
        </p:nvSpPr>
        <p:spPr>
          <a:xfrm>
            <a:off x="3554836" y="5768623"/>
            <a:ext cx="1771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리듬에 맞추어 징검다리 건너기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8A299AF-800A-4E1A-8361-21A6E734C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652" y="1562290"/>
            <a:ext cx="2520000" cy="1417895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4859F4D9-98AC-472A-995D-65CC10638CB7}"/>
              </a:ext>
            </a:extLst>
          </p:cNvPr>
          <p:cNvSpPr/>
          <p:nvPr/>
        </p:nvSpPr>
        <p:spPr>
          <a:xfrm>
            <a:off x="2856719" y="2108203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ECB2E2-5BAD-4D84-B7DE-EDB263135040}"/>
              </a:ext>
            </a:extLst>
          </p:cNvPr>
          <p:cNvSpPr/>
          <p:nvPr/>
        </p:nvSpPr>
        <p:spPr>
          <a:xfrm>
            <a:off x="2851321" y="4788164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십자형 31">
            <a:extLst>
              <a:ext uri="{FF2B5EF4-FFF2-40B4-BE49-F238E27FC236}">
                <a16:creationId xmlns:a16="http://schemas.microsoft.com/office/drawing/2014/main" id="{0D1A7336-3604-4E19-8AC0-0D4F4C5081B0}"/>
              </a:ext>
            </a:extLst>
          </p:cNvPr>
          <p:cNvSpPr/>
          <p:nvPr/>
        </p:nvSpPr>
        <p:spPr>
          <a:xfrm>
            <a:off x="8907039" y="2108203"/>
            <a:ext cx="360000" cy="360000"/>
          </a:xfrm>
          <a:prstGeom prst="plus">
            <a:avLst>
              <a:gd name="adj" fmla="val 3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83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 Manager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780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</a:p>
          <a:p>
            <a:r>
              <a:rPr lang="en-US" altLang="ko-KR" dirty="0"/>
              <a:t>Cutscene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940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Save – Lode Data</a:t>
            </a:r>
          </a:p>
          <a:p>
            <a:pPr lvl="1"/>
            <a:r>
              <a:rPr lang="en-US" altLang="ko-KR" dirty="0"/>
              <a:t>New Data Creation</a:t>
            </a:r>
          </a:p>
          <a:p>
            <a:pPr lvl="1"/>
            <a:r>
              <a:rPr lang="en-US" altLang="ko-KR" dirty="0"/>
              <a:t>Ending Condition</a:t>
            </a:r>
          </a:p>
          <a:p>
            <a:r>
              <a:rPr lang="en-US" altLang="ko-KR" dirty="0"/>
              <a:t>Puzzle</a:t>
            </a:r>
          </a:p>
          <a:p>
            <a:pPr lvl="1"/>
            <a:r>
              <a:rPr lang="en-US" altLang="ko-KR" dirty="0"/>
              <a:t>Sliding</a:t>
            </a:r>
          </a:p>
          <a:p>
            <a:pPr lvl="1"/>
            <a:r>
              <a:rPr lang="en-US" altLang="ko-KR" dirty="0"/>
              <a:t>Star Collect</a:t>
            </a:r>
          </a:p>
          <a:p>
            <a:pPr lvl="1"/>
            <a:r>
              <a:rPr lang="en-US" altLang="ko-KR" dirty="0"/>
              <a:t>Space View</a:t>
            </a:r>
          </a:p>
          <a:p>
            <a:pPr lvl="1"/>
            <a:r>
              <a:rPr lang="en-US" altLang="ko-KR" dirty="0"/>
              <a:t>Painting</a:t>
            </a:r>
          </a:p>
          <a:p>
            <a:pPr lvl="1"/>
            <a:r>
              <a:rPr lang="en-US" altLang="ko-KR" dirty="0"/>
              <a:t>Sound</a:t>
            </a:r>
          </a:p>
          <a:p>
            <a:pPr lvl="1"/>
            <a:r>
              <a:rPr lang="en-US" altLang="ko-KR" dirty="0"/>
              <a:t>Jump</a:t>
            </a:r>
          </a:p>
          <a:p>
            <a:pPr lvl="1"/>
            <a:r>
              <a:rPr lang="en-US" altLang="ko-KR" dirty="0"/>
              <a:t>Cube Coloring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28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1 –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슬라이딩 로직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B64F68-DA85-C755-5EAA-1BCCE6CA7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5" y="1113900"/>
            <a:ext cx="2746607" cy="27305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6FC6C8-A1C2-1CE1-1D8A-82A4F7A2CC1B}"/>
              </a:ext>
            </a:extLst>
          </p:cNvPr>
          <p:cNvSpPr txBox="1"/>
          <p:nvPr/>
        </p:nvSpPr>
        <p:spPr>
          <a:xfrm>
            <a:off x="893777" y="4384716"/>
            <a:ext cx="4647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프리젠테이션 3 Light" pitchFamily="2" charset="-127"/>
                <a:ea typeface="프리젠테이션 3 Light" pitchFamily="2" charset="-127"/>
              </a:rPr>
              <a:t>이동 방향을 </a:t>
            </a:r>
            <a:r>
              <a:rPr lang="en-US" altLang="ko-KR" sz="2400" dirty="0">
                <a:latin typeface="프리젠테이션 3 Light" pitchFamily="2" charset="-127"/>
                <a:ea typeface="프리젠테이션 3 Light" pitchFamily="2" charset="-127"/>
              </a:rPr>
              <a:t>X</a:t>
            </a:r>
            <a:r>
              <a:rPr lang="ko-KR" altLang="en-US" sz="2400" dirty="0">
                <a:latin typeface="프리젠테이션 3 Light" pitchFamily="2" charset="-127"/>
                <a:ea typeface="프리젠테이션 3 Light" pitchFamily="2" charset="-127"/>
              </a:rPr>
              <a:t>축 또는 </a:t>
            </a:r>
            <a:r>
              <a:rPr lang="en-US" altLang="ko-KR" sz="2400" dirty="0">
                <a:latin typeface="프리젠테이션 3 Light" pitchFamily="2" charset="-127"/>
                <a:ea typeface="프리젠테이션 3 Light" pitchFamily="2" charset="-127"/>
              </a:rPr>
              <a:t>Z</a:t>
            </a:r>
            <a:r>
              <a:rPr lang="ko-KR" altLang="en-US" sz="2400" dirty="0">
                <a:latin typeface="프리젠테이션 3 Light" pitchFamily="2" charset="-127"/>
                <a:ea typeface="프리젠테이션 3 Light" pitchFamily="2" charset="-127"/>
              </a:rPr>
              <a:t>축으로 고정하여 입력 값에 따라 이동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4A08533-5839-4BC4-5EFA-64BE43D6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683" y="1113899"/>
            <a:ext cx="2746607" cy="27305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50DB2-7844-7F64-4058-00AB50E2D921}"/>
              </a:ext>
            </a:extLst>
          </p:cNvPr>
          <p:cNvSpPr txBox="1"/>
          <p:nvPr/>
        </p:nvSpPr>
        <p:spPr>
          <a:xfrm>
            <a:off x="6458868" y="4376541"/>
            <a:ext cx="5030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프리젠테이션 3 Light" pitchFamily="2" charset="-127"/>
                <a:ea typeface="프리젠테이션 3 Light" pitchFamily="2" charset="-127"/>
              </a:rPr>
              <a:t>앞에 장애물이 있는지 </a:t>
            </a:r>
            <a:r>
              <a:rPr lang="ko-KR" altLang="en-US" sz="2400" dirty="0" err="1">
                <a:latin typeface="프리젠테이션 3 Light" pitchFamily="2" charset="-127"/>
                <a:ea typeface="프리젠테이션 3 Light" pitchFamily="2" charset="-127"/>
              </a:rPr>
              <a:t>레이캐스트로</a:t>
            </a:r>
            <a:r>
              <a:rPr lang="ko-KR" altLang="en-US" sz="2400" dirty="0">
                <a:latin typeface="프리젠테이션 3 Light" pitchFamily="2" charset="-127"/>
                <a:ea typeface="프리젠테이션 3 Light" pitchFamily="2" charset="-127"/>
              </a:rPr>
              <a:t> 확인 후 있으면 멈춤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765CA57-B0EA-97BB-D9A9-3E146417B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712" y="1113900"/>
            <a:ext cx="2746607" cy="273058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FB4D3C5-FBC9-9421-370E-C0B087B93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722" y="1113899"/>
            <a:ext cx="2746607" cy="27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A482-F841-C43F-45F3-7C965117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5D867-F2AC-DE18-01DD-1708BEC3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1 –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별 수집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&amp;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맞히기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CD19EC-90DF-5D8D-21B9-A9C69F939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58" y="1057047"/>
            <a:ext cx="2899880" cy="37112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E0E9F39-2FB3-95EF-B043-AB1CA9F53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916" y="900000"/>
            <a:ext cx="2899880" cy="38494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73010D9-9993-25DD-6A89-58393AF23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021" y="3740218"/>
            <a:ext cx="3658111" cy="10092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89C111-E8E6-A1F8-7EF0-ECEC8AEE2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020" y="1057047"/>
            <a:ext cx="3658111" cy="2526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47606D-EC1F-536B-5345-54672B2C2EAA}"/>
              </a:ext>
            </a:extLst>
          </p:cNvPr>
          <p:cNvSpPr txBox="1"/>
          <p:nvPr/>
        </p:nvSpPr>
        <p:spPr>
          <a:xfrm>
            <a:off x="1206631" y="4996206"/>
            <a:ext cx="8898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수집했던 별의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ID(ID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마다 색상이 다름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)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를 저장했다가 오답 별과 함께 슬롯에 배치</a:t>
            </a:r>
            <a:endParaRPr lang="en-US" altLang="ko-KR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슬롯을 무작위로 섞어서 퍼즐 생성</a:t>
            </a:r>
            <a:endParaRPr lang="en-US" altLang="ko-KR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가지고 있던 별의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ID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와 동일하면 정답처리</a:t>
            </a:r>
          </a:p>
        </p:txBody>
      </p:sp>
    </p:spTree>
    <p:extLst>
      <p:ext uri="{BB962C8B-B14F-4D97-AF65-F5344CB8AC3E}">
        <p14:creationId xmlns:p14="http://schemas.microsoft.com/office/powerpoint/2010/main" val="8370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51D4D0F-4F2D-4E6D-85E4-609498058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76049"/>
            <a:ext cx="7621064" cy="43059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3D448D0-1059-47C7-A523-86353F36C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006" y="1170934"/>
            <a:ext cx="3759428" cy="450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DD8EF97-FFAA-4034-B9E5-4CDB27C6A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6" y="1170934"/>
            <a:ext cx="3108510" cy="45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4 –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발판 동작 판정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49408-82C4-4130-AD09-280EAA935FB1}"/>
              </a:ext>
            </a:extLst>
          </p:cNvPr>
          <p:cNvSpPr txBox="1"/>
          <p:nvPr/>
        </p:nvSpPr>
        <p:spPr>
          <a:xfrm>
            <a:off x="1953248" y="1170934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이웃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 색 비교 판정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78C1D-3075-4F39-9561-C623D2AB39AD}"/>
              </a:ext>
            </a:extLst>
          </p:cNvPr>
          <p:cNvSpPr txBox="1"/>
          <p:nvPr/>
        </p:nvSpPr>
        <p:spPr>
          <a:xfrm>
            <a:off x="10467628" y="1170934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스위치 상호작용 동작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757F695-E077-491E-B8BD-F341D040E553}"/>
              </a:ext>
            </a:extLst>
          </p:cNvPr>
          <p:cNvSpPr/>
          <p:nvPr/>
        </p:nvSpPr>
        <p:spPr>
          <a:xfrm>
            <a:off x="5645796" y="4038600"/>
            <a:ext cx="611071" cy="61200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464FDAAD-7B3D-4683-A627-049113D5FB92}"/>
              </a:ext>
            </a:extLst>
          </p:cNvPr>
          <p:cNvCxnSpPr>
            <a:stCxn id="9" idx="4"/>
            <a:endCxn id="22" idx="2"/>
          </p:cNvCxnSpPr>
          <p:nvPr/>
        </p:nvCxnSpPr>
        <p:spPr>
          <a:xfrm rot="16200000" flipH="1">
            <a:off x="7529859" y="3072073"/>
            <a:ext cx="1020334" cy="4177388"/>
          </a:xfrm>
          <a:prstGeom prst="bentConnector3">
            <a:avLst>
              <a:gd name="adj1" fmla="val 122404"/>
            </a:avLst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1281C6-1603-41AF-A3DB-21BB711BAB35}"/>
              </a:ext>
            </a:extLst>
          </p:cNvPr>
          <p:cNvSpPr/>
          <p:nvPr/>
        </p:nvSpPr>
        <p:spPr>
          <a:xfrm rot="2700000">
            <a:off x="3814454" y="4178273"/>
            <a:ext cx="2510697" cy="1513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FE11F2F-3C50-41B8-A854-7932D13DCA75}"/>
              </a:ext>
            </a:extLst>
          </p:cNvPr>
          <p:cNvCxnSpPr>
            <a:stCxn id="5" idx="2"/>
            <a:endCxn id="12" idx="2"/>
          </p:cNvCxnSpPr>
          <p:nvPr/>
        </p:nvCxnSpPr>
        <p:spPr>
          <a:xfrm rot="10800000" flipV="1">
            <a:off x="1737821" y="4307430"/>
            <a:ext cx="3278484" cy="1363504"/>
          </a:xfrm>
          <a:prstGeom prst="bentConnector4">
            <a:avLst>
              <a:gd name="adj1" fmla="val -39"/>
              <a:gd name="adj2" fmla="val 11676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568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657B3A-A1AB-4DFD-8B14-FC9C29FF5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994" y="1285576"/>
            <a:ext cx="7602011" cy="42868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FB3D1F-3C39-4352-A33A-72B12172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5" y="1170934"/>
            <a:ext cx="4500000" cy="28549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3A47D7-85E0-41A3-818D-64A048032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34" y="1170934"/>
            <a:ext cx="4500000" cy="20755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4 – 100%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완료 여부 계산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49408-82C4-4130-AD09-280EAA935FB1}"/>
              </a:ext>
            </a:extLst>
          </p:cNvPr>
          <p:cNvSpPr txBox="1"/>
          <p:nvPr/>
        </p:nvSpPr>
        <p:spPr>
          <a:xfrm>
            <a:off x="10669608" y="2969445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 색 통일 여부 판정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78C1D-3075-4F39-9561-C623D2AB39AD}"/>
              </a:ext>
            </a:extLst>
          </p:cNvPr>
          <p:cNvSpPr txBox="1"/>
          <p:nvPr/>
        </p:nvSpPr>
        <p:spPr>
          <a:xfrm>
            <a:off x="3229321" y="3748843"/>
            <a:ext cx="1454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최종 퍼즐 완료 태그 판정</a:t>
            </a:r>
            <a:endParaRPr lang="ko-KR" altLang="en-US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18A8206-60C9-4C76-B178-C3AE48A59C16}"/>
              </a:ext>
            </a:extLst>
          </p:cNvPr>
          <p:cNvSpPr/>
          <p:nvPr/>
        </p:nvSpPr>
        <p:spPr>
          <a:xfrm>
            <a:off x="6095999" y="2717800"/>
            <a:ext cx="1058334" cy="4487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ED1471A-D766-47AF-BFF0-956FC7B01C91}"/>
              </a:ext>
            </a:extLst>
          </p:cNvPr>
          <p:cNvSpPr/>
          <p:nvPr/>
        </p:nvSpPr>
        <p:spPr>
          <a:xfrm>
            <a:off x="10100733" y="2565400"/>
            <a:ext cx="585809" cy="276999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6718FA25-EFB6-4B9A-A85C-22C8B7BB4772}"/>
              </a:ext>
            </a:extLst>
          </p:cNvPr>
          <p:cNvSpPr/>
          <p:nvPr/>
        </p:nvSpPr>
        <p:spPr>
          <a:xfrm>
            <a:off x="7181011" y="2816999"/>
            <a:ext cx="354099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075CF2-B5CA-43C8-BC29-B1B254F96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434" y="5493418"/>
            <a:ext cx="5400000" cy="1281951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E98EA358-F8A6-40B3-9512-CAF9F5F7FFC0}"/>
              </a:ext>
            </a:extLst>
          </p:cNvPr>
          <p:cNvSpPr/>
          <p:nvPr/>
        </p:nvSpPr>
        <p:spPr>
          <a:xfrm>
            <a:off x="9100196" y="4758267"/>
            <a:ext cx="611071" cy="61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C5844D85-D12A-4ECD-AB6D-D40D8991D298}"/>
              </a:ext>
            </a:extLst>
          </p:cNvPr>
          <p:cNvSpPr/>
          <p:nvPr/>
        </p:nvSpPr>
        <p:spPr>
          <a:xfrm>
            <a:off x="9228681" y="5428424"/>
            <a:ext cx="354099" cy="288000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B2E68A-F36F-42E5-959E-8BD300F898D8}"/>
              </a:ext>
            </a:extLst>
          </p:cNvPr>
          <p:cNvSpPr/>
          <p:nvPr/>
        </p:nvSpPr>
        <p:spPr>
          <a:xfrm>
            <a:off x="6841067" y="5901267"/>
            <a:ext cx="956733" cy="18626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2DCE579-1422-4085-8AB8-44A52E79E3EE}"/>
              </a:ext>
            </a:extLst>
          </p:cNvPr>
          <p:cNvCxnSpPr>
            <a:cxnSpLocks/>
            <a:stCxn id="6" idx="1"/>
            <a:endCxn id="19" idx="2"/>
          </p:cNvCxnSpPr>
          <p:nvPr/>
        </p:nvCxnSpPr>
        <p:spPr>
          <a:xfrm rot="10800000">
            <a:off x="3124201" y="1676400"/>
            <a:ext cx="3716867" cy="431800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C3B821-C450-4733-AA9D-354CD2926C07}"/>
              </a:ext>
            </a:extLst>
          </p:cNvPr>
          <p:cNvSpPr/>
          <p:nvPr/>
        </p:nvSpPr>
        <p:spPr>
          <a:xfrm>
            <a:off x="2819399" y="1566332"/>
            <a:ext cx="609601" cy="11006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0BDD8-AEDA-4203-B01E-19C98989D85C}"/>
              </a:ext>
            </a:extLst>
          </p:cNvPr>
          <p:cNvSpPr txBox="1"/>
          <p:nvPr/>
        </p:nvSpPr>
        <p:spPr>
          <a:xfrm>
            <a:off x="10842729" y="6498370"/>
            <a:ext cx="1165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다시하기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횟수 누적</a:t>
            </a:r>
          </a:p>
        </p:txBody>
      </p:sp>
    </p:spTree>
    <p:extLst>
      <p:ext uri="{BB962C8B-B14F-4D97-AF65-F5344CB8AC3E}">
        <p14:creationId xmlns:p14="http://schemas.microsoft.com/office/powerpoint/2010/main" val="369009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0D10D8-6CA6-4464-A600-EB4855661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" y="1408797"/>
            <a:ext cx="5400000" cy="50288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Setting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D49714-6F19-4631-B2B8-3A34EB381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89869"/>
            <a:ext cx="5400000" cy="3438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4181916" y="1408797"/>
            <a:ext cx="1425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기본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113890" y="4879960"/>
            <a:ext cx="13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세부 데이터 구조</a:t>
            </a:r>
            <a:endParaRPr lang="en-US" altLang="ko-KR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※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엔딩 조건</a:t>
            </a:r>
            <a:endParaRPr lang="en-US" altLang="ko-KR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※ NPC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정보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키워드</a:t>
            </a:r>
          </a:p>
        </p:txBody>
      </p:sp>
    </p:spTree>
    <p:extLst>
      <p:ext uri="{BB962C8B-B14F-4D97-AF65-F5344CB8AC3E}">
        <p14:creationId xmlns:p14="http://schemas.microsoft.com/office/powerpoint/2010/main" val="473545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13358E4-A11B-4C59-9513-5FDE5980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" y="1408798"/>
            <a:ext cx="5760000" cy="32336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0734FEE-7F26-48B4-9E81-9CF82210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756" y="1408797"/>
            <a:ext cx="3388500" cy="360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13C5E0-EBD6-4ECF-B7DC-79CCA6A6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706" y="1408797"/>
            <a:ext cx="2115988" cy="36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New Data Creation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7830449" y="4731798"/>
            <a:ext cx="183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JSON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파일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466330" y="4731797"/>
            <a:ext cx="1518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NPC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정보 기본값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JSON</a:t>
            </a:r>
            <a:endParaRPr lang="ko-KR" altLang="en-US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화살표: 왼쪽 11">
            <a:extLst>
              <a:ext uri="{FF2B5EF4-FFF2-40B4-BE49-F238E27FC236}">
                <a16:creationId xmlns:a16="http://schemas.microsoft.com/office/drawing/2014/main" id="{617F5836-21DD-49AB-9799-FA40C813FDE8}"/>
              </a:ext>
            </a:extLst>
          </p:cNvPr>
          <p:cNvSpPr/>
          <p:nvPr/>
        </p:nvSpPr>
        <p:spPr>
          <a:xfrm>
            <a:off x="8686801" y="3514336"/>
            <a:ext cx="1117600" cy="288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왼쪽 12">
            <a:extLst>
              <a:ext uri="{FF2B5EF4-FFF2-40B4-BE49-F238E27FC236}">
                <a16:creationId xmlns:a16="http://schemas.microsoft.com/office/drawing/2014/main" id="{61D6F84D-0F26-4A7C-84F9-91001B32A1BD}"/>
              </a:ext>
            </a:extLst>
          </p:cNvPr>
          <p:cNvSpPr/>
          <p:nvPr/>
        </p:nvSpPr>
        <p:spPr>
          <a:xfrm>
            <a:off x="3953933" y="3405006"/>
            <a:ext cx="2205517" cy="288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B4379D-21E6-4FD9-9831-16464E78C02B}"/>
              </a:ext>
            </a:extLst>
          </p:cNvPr>
          <p:cNvSpPr/>
          <p:nvPr/>
        </p:nvSpPr>
        <p:spPr>
          <a:xfrm>
            <a:off x="2294468" y="3370403"/>
            <a:ext cx="1578226" cy="33107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B80948E-082C-467B-9A66-9382D3DEDA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768" y="3514336"/>
            <a:ext cx="360000" cy="4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58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472AE53-1FB2-45A8-B92C-58034C58D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694" y="2751022"/>
            <a:ext cx="5400000" cy="4022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415034" y="3993093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생성 후 저장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542269-13EF-42F7-A998-567B539B7221}"/>
              </a:ext>
            </a:extLst>
          </p:cNvPr>
          <p:cNvSpPr/>
          <p:nvPr/>
        </p:nvSpPr>
        <p:spPr>
          <a:xfrm>
            <a:off x="6804827" y="2983725"/>
            <a:ext cx="5179867" cy="1286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C34596-24E2-4239-ADED-711000471635}"/>
              </a:ext>
            </a:extLst>
          </p:cNvPr>
          <p:cNvSpPr/>
          <p:nvPr/>
        </p:nvSpPr>
        <p:spPr>
          <a:xfrm>
            <a:off x="6804827" y="4727859"/>
            <a:ext cx="5179867" cy="1286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93553-CDFA-401C-9931-AA69652BA8CA}"/>
              </a:ext>
            </a:extLst>
          </p:cNvPr>
          <p:cNvSpPr txBox="1"/>
          <p:nvPr/>
        </p:nvSpPr>
        <p:spPr>
          <a:xfrm>
            <a:off x="10213055" y="5737793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슬롯에 저장된 데이터 불러오기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Save/Load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8FC2CA-8446-45C3-A499-8529580A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06" y="1408797"/>
            <a:ext cx="5668166" cy="31627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9A172E-E0B8-48E9-98E5-FEF415CB0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06" y="4257572"/>
            <a:ext cx="5400000" cy="251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4181916" y="6496898"/>
            <a:ext cx="1425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슬롯 동작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17F5836-21DD-49AB-9799-FA40C813FDE8}"/>
              </a:ext>
            </a:extLst>
          </p:cNvPr>
          <p:cNvSpPr/>
          <p:nvPr/>
        </p:nvSpPr>
        <p:spPr>
          <a:xfrm rot="20700000">
            <a:off x="5372140" y="4115532"/>
            <a:ext cx="1336168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1336B66-5F37-4EC5-84FD-A894BA5ABA4C}"/>
              </a:ext>
            </a:extLst>
          </p:cNvPr>
          <p:cNvSpPr/>
          <p:nvPr/>
        </p:nvSpPr>
        <p:spPr>
          <a:xfrm>
            <a:off x="4049984" y="5053804"/>
            <a:ext cx="2672549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7D4029-ED74-4D93-9F61-AAD809AAA5B8}"/>
              </a:ext>
            </a:extLst>
          </p:cNvPr>
          <p:cNvSpPr/>
          <p:nvPr/>
        </p:nvSpPr>
        <p:spPr>
          <a:xfrm>
            <a:off x="465667" y="2436906"/>
            <a:ext cx="5046133" cy="62401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DB237A-561B-4D68-8CE8-5D2E40F111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634" y="2660220"/>
            <a:ext cx="360000" cy="4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04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C08E8F7-3D79-47A6-82EF-A09D658E3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07" y="1154361"/>
            <a:ext cx="5393517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Ending Condition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3516026" y="3702334"/>
            <a:ext cx="130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기억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재구성 점수 조건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542269-13EF-42F7-A998-567B539B7221}"/>
              </a:ext>
            </a:extLst>
          </p:cNvPr>
          <p:cNvSpPr/>
          <p:nvPr/>
        </p:nvSpPr>
        <p:spPr>
          <a:xfrm>
            <a:off x="237067" y="2064708"/>
            <a:ext cx="4588933" cy="19146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C34596-24E2-4239-ADED-711000471635}"/>
              </a:ext>
            </a:extLst>
          </p:cNvPr>
          <p:cNvSpPr/>
          <p:nvPr/>
        </p:nvSpPr>
        <p:spPr>
          <a:xfrm>
            <a:off x="237067" y="4028041"/>
            <a:ext cx="5300133" cy="15006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93553-CDFA-401C-9931-AA69652BA8CA}"/>
              </a:ext>
            </a:extLst>
          </p:cNvPr>
          <p:cNvSpPr txBox="1"/>
          <p:nvPr/>
        </p:nvSpPr>
        <p:spPr>
          <a:xfrm>
            <a:off x="4342642" y="5251734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필수 태그 수집 조건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65A0E0-D74E-46C1-A520-E65518D9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4361"/>
            <a:ext cx="3572374" cy="6382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A710589-A75F-4A53-96E6-B7186EAC9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4708"/>
            <a:ext cx="5649113" cy="1705213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A2CBD3-5011-4455-B828-3DCDAF1515CB}"/>
              </a:ext>
            </a:extLst>
          </p:cNvPr>
          <p:cNvSpPr/>
          <p:nvPr/>
        </p:nvSpPr>
        <p:spPr>
          <a:xfrm>
            <a:off x="6256867" y="2683933"/>
            <a:ext cx="1968375" cy="1524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825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FA0DEA-27C4-710E-6389-E94B2AD2A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48" y="1470582"/>
            <a:ext cx="2948924" cy="35303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C138FA-8AD6-65CD-A7AE-D6D1B347A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21" y="1470582"/>
            <a:ext cx="2772162" cy="3530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68DD66-A66A-B21B-7E33-D0AD83B21B9B}"/>
              </a:ext>
            </a:extLst>
          </p:cNvPr>
          <p:cNvSpPr txBox="1"/>
          <p:nvPr/>
        </p:nvSpPr>
        <p:spPr>
          <a:xfrm>
            <a:off x="1003607" y="5090326"/>
            <a:ext cx="1931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&lt;</a:t>
            </a:r>
            <a:r>
              <a:rPr lang="en-US" altLang="ko-KR" sz="1400" dirty="0" err="1">
                <a:latin typeface="프리젠테이션 3 Light" pitchFamily="2" charset="-127"/>
                <a:ea typeface="프리젠테이션 3 Light" pitchFamily="2" charset="-127"/>
              </a:rPr>
              <a:t>npc_profile.json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&gt;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0F65656-B018-AA67-00D6-9B78CA77C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732" y="1489246"/>
            <a:ext cx="3813118" cy="35303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569FAE-E89F-FDFD-728C-9C3AD90084BD}"/>
              </a:ext>
            </a:extLst>
          </p:cNvPr>
          <p:cNvSpPr txBox="1"/>
          <p:nvPr/>
        </p:nvSpPr>
        <p:spPr>
          <a:xfrm>
            <a:off x="4533809" y="5090327"/>
            <a:ext cx="1920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&lt;</a:t>
            </a:r>
            <a:r>
              <a:rPr lang="en-US" altLang="ko-KR" sz="1400" dirty="0" err="1">
                <a:latin typeface="프리젠테이션 3 Light" pitchFamily="2" charset="-127"/>
                <a:ea typeface="프리젠테이션 3 Light" pitchFamily="2" charset="-127"/>
              </a:rPr>
              <a:t>NpcProfileData.cs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&gt;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EBE21C-1942-ECC2-522B-C04AD326DBD6}"/>
              </a:ext>
            </a:extLst>
          </p:cNvPr>
          <p:cNvSpPr txBox="1"/>
          <p:nvPr/>
        </p:nvSpPr>
        <p:spPr>
          <a:xfrm>
            <a:off x="8309577" y="5090327"/>
            <a:ext cx="2283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&lt;</a:t>
            </a:r>
            <a:r>
              <a:rPr lang="en-US" altLang="ko-KR" sz="1400" dirty="0" err="1">
                <a:latin typeface="프리젠테이션 3 Light" pitchFamily="2" charset="-127"/>
                <a:ea typeface="프리젠테이션 3 Light" pitchFamily="2" charset="-127"/>
              </a:rPr>
              <a:t>GameDialogueDatabase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&gt;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F2E4B-60A2-3D9E-CEA4-3373A854AC78}"/>
              </a:ext>
            </a:extLst>
          </p:cNvPr>
          <p:cNvSpPr txBox="1"/>
          <p:nvPr/>
        </p:nvSpPr>
        <p:spPr>
          <a:xfrm>
            <a:off x="494748" y="5590166"/>
            <a:ext cx="9115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- JSON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기반 데이터 관리</a:t>
            </a:r>
            <a:endParaRPr lang="en-US" altLang="ko-KR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-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데이터베이스에서 필요한 정보 통합 로드</a:t>
            </a:r>
            <a:endParaRPr lang="en-US" altLang="ko-KR" dirty="0">
              <a:latin typeface="프리젠테이션 3 Light" pitchFamily="2" charset="-127"/>
              <a:ea typeface="프리젠테이션 3 Light" pitchFamily="2" charset="-127"/>
            </a:endParaRPr>
          </a:p>
          <a:p>
            <a:pPr marL="285750" indent="-285750">
              <a:buFontTx/>
              <a:buChar char="-"/>
            </a:pP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6378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15C91-2E2A-FAAA-DA9E-3CF0E011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C3B3E-4E6B-D20D-4AD6-62437081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A6DE2-5BB1-9C58-F28D-E48941C95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57041-08F2-EB48-C603-448E44668C65}"/>
              </a:ext>
            </a:extLst>
          </p:cNvPr>
          <p:cNvSpPr txBox="1"/>
          <p:nvPr/>
        </p:nvSpPr>
        <p:spPr>
          <a:xfrm>
            <a:off x="1540881" y="5032952"/>
            <a:ext cx="1654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&lt;</a:t>
            </a:r>
            <a:r>
              <a:rPr lang="en-US" altLang="ko-KR" sz="1400" dirty="0" err="1">
                <a:latin typeface="프리젠테이션 3 Light" pitchFamily="2" charset="-127"/>
                <a:ea typeface="프리젠테이션 3 Light" pitchFamily="2" charset="-127"/>
              </a:rPr>
              <a:t>PromptBuilder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&gt;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2D65C-DBD5-F68C-FE01-E1D64ED8BF40}"/>
              </a:ext>
            </a:extLst>
          </p:cNvPr>
          <p:cNvSpPr txBox="1"/>
          <p:nvPr/>
        </p:nvSpPr>
        <p:spPr>
          <a:xfrm>
            <a:off x="5135607" y="5053039"/>
            <a:ext cx="1920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&lt;</a:t>
            </a:r>
            <a:r>
              <a:rPr lang="en-US" altLang="ko-KR" sz="1400" dirty="0" err="1">
                <a:latin typeface="프리젠테이션 3 Light" pitchFamily="2" charset="-127"/>
                <a:ea typeface="프리젠테이션 3 Light" pitchFamily="2" charset="-127"/>
              </a:rPr>
              <a:t>ChatNPCManager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&gt;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56BECA-50C2-06B6-AAFD-913D75CD324B}"/>
              </a:ext>
            </a:extLst>
          </p:cNvPr>
          <p:cNvSpPr txBox="1"/>
          <p:nvPr/>
        </p:nvSpPr>
        <p:spPr>
          <a:xfrm>
            <a:off x="8948755" y="5000916"/>
            <a:ext cx="158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&lt;</a:t>
            </a:r>
            <a:r>
              <a:rPr lang="en-US" altLang="ko-KR" dirty="0" err="1">
                <a:latin typeface="프리젠테이션 3 Light" pitchFamily="2" charset="-127"/>
                <a:ea typeface="프리젠테이션 3 Light" pitchFamily="2" charset="-127"/>
              </a:rPr>
              <a:t>ServerChat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&gt;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B4DEC-68A2-2B81-A30C-77337D1F0121}"/>
              </a:ext>
            </a:extLst>
          </p:cNvPr>
          <p:cNvSpPr txBox="1"/>
          <p:nvPr/>
        </p:nvSpPr>
        <p:spPr>
          <a:xfrm>
            <a:off x="494748" y="5590166"/>
            <a:ext cx="911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-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프롬프트 생성 후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AI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응답 요청</a:t>
            </a:r>
            <a:endParaRPr lang="en-US" altLang="ko-KR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-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대화 결과를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에 출력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70DE28-332B-7530-5D98-4EF9067EF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55" y="1590274"/>
            <a:ext cx="3091786" cy="31184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0D7D07-4977-FCDA-FDEE-B2F849BF4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696" y="1590274"/>
            <a:ext cx="2924608" cy="311840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4526C4D-6A13-A673-1509-939E955C6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659" y="1590275"/>
            <a:ext cx="2924608" cy="311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47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4828-BCB7-0AA0-AA03-169D9CA0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9942F-5D05-FFA2-E3BE-E75CC7CE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8EEA0-7EF1-E94D-067B-01901C27A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AF952D-04FC-138B-5CE3-265144EDAAC3}"/>
              </a:ext>
            </a:extLst>
          </p:cNvPr>
          <p:cNvSpPr txBox="1"/>
          <p:nvPr/>
        </p:nvSpPr>
        <p:spPr>
          <a:xfrm>
            <a:off x="1029674" y="1529759"/>
            <a:ext cx="449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예시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기억 설정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82A69CB-5FD0-EF10-58CF-9B5FBE5C1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904" y="4143989"/>
            <a:ext cx="4493422" cy="172180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55A42E4-BA4B-182E-9F0D-C033F8BF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4" y="4143989"/>
            <a:ext cx="4493422" cy="172180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554288C-CAB5-14F7-BA9B-A67BD7213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74" y="1970395"/>
            <a:ext cx="4493422" cy="172180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06C2DD8-4B67-6993-44C6-452A1375C3D0}"/>
              </a:ext>
            </a:extLst>
          </p:cNvPr>
          <p:cNvSpPr txBox="1"/>
          <p:nvPr/>
        </p:nvSpPr>
        <p:spPr>
          <a:xfrm>
            <a:off x="6668904" y="1508860"/>
            <a:ext cx="449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예시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힌트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D2E2737C-4F13-895C-BDFB-587CAE901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904" y="1970395"/>
            <a:ext cx="4493422" cy="17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9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0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TM04033929[[fn=슬레이트]]</Template>
  <TotalTime>557</TotalTime>
  <Words>687</Words>
  <Application>Microsoft Office PowerPoint</Application>
  <PresentationFormat>와이드스크린</PresentationFormat>
  <Paragraphs>223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프리젠테이션 3 Light</vt:lpstr>
      <vt:lpstr>프리젠테이션 4 Regular</vt:lpstr>
      <vt:lpstr>Calisto MT</vt:lpstr>
      <vt:lpstr>Wingdings 2</vt:lpstr>
      <vt:lpstr>슬레이트</vt:lpstr>
      <vt:lpstr>Moz.A.I.c</vt:lpstr>
      <vt:lpstr>Contents</vt:lpstr>
      <vt:lpstr>Team Profile</vt:lpstr>
      <vt:lpstr>Team Profile</vt:lpstr>
      <vt:lpstr>Schedule</vt:lpstr>
      <vt:lpstr>Project Proposal</vt:lpstr>
      <vt:lpstr>Control</vt:lpstr>
      <vt:lpstr>Scenario</vt:lpstr>
      <vt:lpstr>Puzzles</vt:lpstr>
      <vt:lpstr>Sound</vt:lpstr>
      <vt:lpstr>Art</vt:lpstr>
      <vt:lpstr>Programming</vt:lpstr>
      <vt:lpstr>Puzzle 1 – 슬라이딩 로직</vt:lpstr>
      <vt:lpstr>Puzzle 1 – 별 수집 &amp; 맞히기</vt:lpstr>
      <vt:lpstr>Puzzle 4 – 발판 동작 판정</vt:lpstr>
      <vt:lpstr>Puzzle 4 – 100% 완료 여부 계산</vt:lpstr>
      <vt:lpstr>Save – Lode</vt:lpstr>
      <vt:lpstr>Save – Lode</vt:lpstr>
      <vt:lpstr>Save – Lode</vt:lpstr>
      <vt:lpstr>Ending Condition</vt:lpstr>
      <vt:lpstr>AI</vt:lpstr>
      <vt:lpstr>AI</vt:lpstr>
      <vt:lpstr>AI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성혁 우</dc:creator>
  <cp:lastModifiedBy>성혁 우</cp:lastModifiedBy>
  <cp:revision>49</cp:revision>
  <dcterms:created xsi:type="dcterms:W3CDTF">2026-04-16T01:10:07Z</dcterms:created>
  <dcterms:modified xsi:type="dcterms:W3CDTF">2026-04-16T11:41:39Z</dcterms:modified>
</cp:coreProperties>
</file>